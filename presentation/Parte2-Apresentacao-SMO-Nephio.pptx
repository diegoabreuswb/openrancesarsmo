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notesMaster" Target="notesMasters/notesMaster1.xml" /><Relationship Id="rId33" Type="http://schemas.openxmlformats.org/officeDocument/2006/relationships/viewProps" Target="viewProps.xml" /><Relationship Id="rId3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5" Type="http://schemas.openxmlformats.org/officeDocument/2006/relationships/tableStyles" Target="tableStyles.xml" /><Relationship Id="rId34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 Parte 1 caracterizei teoricamente o que o Nephio faz e não faz frente à especificação de SMO da O-RAN Alliance. Esta Parte 2 existe para provar isso na prática — cada afirmação que vou fazer aqui tem um comando, uma saída real e um arquivo de evidência por trás, não é só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Essa distinção dos quatro ciclos de vida é o fio condutor de todo o trabalho. Vou repetir isso várias vezes ao longo da apresentação porque é fácil confundir “o Kubernetes reconciliou o pod” com “a NF se curou” — são coisas completamente diferentes, e misturar as duas é exatamente o tipo de exagero que este trabalho existe para evitar.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Repito essa frase porque é a âncora de tudo. Cada experimento que vou mostrar valida ou contesta uma linha específica dessa tabela função-por-função da Parte 1 — não escolhi os experimentos ao acaso.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Cada uma dessas escolhas foi uma decisão de orçamento de RAM. O instalador oficial do Nephio sozinho já estouraria os 16 GB se eu tivesse usado a distribuição completa — por isso instalei pacote a pacote, só o mínimo necessário para provar o mecanismo.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Esse diagrama é conceitual — o real, com todos os componentes desta Parte 2, vem no próximo slide. Mas a ideia central já está aqui: dois clusters, papéis bem separados.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 três peças em destaque — metrics-server, config-bridge e rapp-autoscale — não faziam parte da entrega original. Vou chegar nelas, mas primeiro mostro tudo que foi entregue no prazo original, com os 6 experimentos formais.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Nenhuma dessas ferramentas é exclusiva de telecom — é exatamente esse o ponto da Parte 1: o núcleo do Nephio é agnóstico, e se conecta ao mundo O-RAN só através de operadores específicos.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Sou direto aqui: se alguém perguntar “isso é um O-CU de verdade?”, a resposta é não. É um serviço HTTP com o nome de um O-CU, para eu poder demonstrar scale/update/recover/terminate sobre algo que se parece com uma NF, sem pagar o custo de RAM de uma pilha 5G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Isso não foi preguiça — foi uma decisão de engenharia documentada com números reais de requisito de RAM de cada alternativa. Se tivesse uma segunda máquina dedicada, o caminho sugerido seria validar primeiro o onboarding do pacote do free5GC com réplicas em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Esse não é um kubectl apply disfarçado. É um pacote versionado, com Draft, Proposed e Published — o mesmo mecanismo que o Nephio usaria em produção para qualquer coisa.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Dez recursos aplicados (namespace, 3 ConfigMaps, 3 Services, 3 Deployments) — todos de uma vez, via um único pacote reconciliado declarativamente.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Misturar essas duas camadas seria o tipo de exagero que quero evitar. Uma é gerência de elemento de rede (o que seria O1); a outra é GitOps de infraestrutura — mecanismos diferentes, propósitos diferentes.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Rápido e direto — mas o ponto não é a velocidade, é a distinção: essa mudança fica só na API da NF, não propaga pro pacote sozinha (isso só foi resolvido depois, na Melhoria 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Aqui uso deliberadamente o kubectl imperativo, em vez do pacote, para comparar com a Melhoria 4 (rApp) mais adiante — o mesmo scale, só que decidido automaticamente por uma política.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Esse foi o experimento mais instrutivo da entrega original. Bati de frente com um comportamento real e documentado do Kubernetes, diagnostiquei com evidência e corrigi — não escondi que falhou na primeira tentativa.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Deixo claro sempre: “recuperação” aqui é o controller do Kubernetes fazendo seu trabalho normal, não uma função de FCAPS-F O-RAN. É uma distinção pequena no slide, mas grande na prática.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Fecha o ciclo completo: instantiate, config, scale, upgrade, recover, terminate — todos pelo fluxo real do Nephio, com evidência de cada 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Esse gráfico já mostra os 6 experimentos originais junto com as 3 melhorias que vou detalhar depois — dá pra comparar a ordem de grandeza de cada operação de relance.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Isso prova que a restrição de RAM não foi um problema teórico — o laboratório inteiro (Nephio + O-Cloud + 3 CNFs + Porch + Gitea + Cluster API) coube com folga real, medida.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Essas quatro primeiras lacunas eram decisões de escopo, não impossibilidades técnicas — e são exatamente as que ataquei nas melhorias pós-entrega, a seguir.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Essa conversa aconteceu de verdade e mudou o rumo do trabalho — em vez de parar na entrega original, usei a folga de RAM que sobrou (quase 6 GiB) pra fechar lacunas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Antes só tínhamos docker stats do host. Agora tenho kubectl top de verdade — métrica real por nó e por pod, sem pagar o custo de um Prometheus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Essa é a diferença entre “o RootSync está instalado” e “o RootSync funciona de verdade” — só provei a segunda, publicando uma mudança e cronometrando quanto tempo até ela aparecer sozinha no cluster, sem eu chamar kpt live apply manualmente.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Achei e corrigi um bug real nessa: o YAML sem aspas fazia “00101” virar o inteiro 101 na releitura — um padrão octal-like do YAML 1.1 — causando um loop de auto-correção a cada 15s. Corrigi forçando aspas em todo escalar, do mesmo jeito que o Kubernetes já trata ConfigMaps.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300 requisições de carga em 5,99s elevaram a taxa a 10,27 req/s — o rApp detectou isso no próximo ciclo de 30s e aplicou o scale-up sozinho, exatamente como um controller de capacidade não-tempo-real faria.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Esse foi o achado mais valioso de toda a Parte 2, na minha opinião — não é um bug de código, é um comportamento real e documentado de sistemas distribuídos: quando duas fontes de verdade tentam controlar o mesmo recurso, uma vai vencer, e é preciso decidir explicitamente qual.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Prefiro terminar mostrando exatamente onde parei, sem fingir que terminei algo que não terminei — isso é mais valioso academicamente do que uma apresentação sem nenhuma pendência.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27</a:t>
            </a:fld>
            <a:endParaRPr lang="en-US"/>
          </a:p>
        </p:txBody>
      </p:sp>
    </p:spTree>
  </p:cSld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Esse slide é o resumo que eu daria se só tivesse 30 segundos: o que funciona de verdade, o que não funciona e por quê, e quantas vezes as coisas quebraram e foram consertadas de verdade no caminho.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28</a:t>
            </a:fld>
            <a:endParaRPr lang="en-US"/>
          </a:p>
        </p:txBody>
      </p:sp>
    </p:spTree>
  </p:cSld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Entre teoria (Parte 1) e prática (Parte 2), a mesma conclusão se sustenta: o Nephio é uma plataforma de automação cloud-native real, que implementa um subconjunto bem definido — e demonstrado, com evidência, inclusive nas melhorias — das funções associadas ao SMO. Obrigado.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4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Relationship Id="rId4" Type="http://schemas.openxmlformats.org/officeDocument/2006/relationships/image" Target="../media/image6.png" /><Relationship Id="rId3" Type="http://schemas.openxmlformats.org/officeDocument/2006/relationships/image" Target="../media/image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7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8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9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6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27.xml" /><Relationship Id="rId3" Type="http://schemas.openxmlformats.org/officeDocument/2006/relationships/image" Target="../media/image10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8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9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Provisionamento e gerenciamento prático de uma pilha Open RAN com Nephio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Parte 2 (70%) — disciplina de redes Open RAN, Curso CESAR</a:t>
            </a:r>
          </a:p>
          <a:p>
            <a:pPr lvl="0"/>
            <a:r>
              <a:rPr/>
              <a:t>Usar o Nephio, na prática, para provisionar e gerenciar uma pilha Open RAN </a:t>
            </a:r>
            <a:r>
              <a:rPr b="1"/>
              <a:t>simulada</a:t>
            </a:r>
          </a:p>
          <a:p>
            <a:pPr lvl="0"/>
            <a:r>
              <a:rPr/>
              <a:t>3 Network Functions representativas: </a:t>
            </a:r>
            <a:r>
              <a:rPr>
                <a:latin typeface="Courier"/>
              </a:rPr>
              <a:t>oran-cu</a:t>
            </a:r>
            <a:r>
              <a:rPr/>
              <a:t>, </a:t>
            </a:r>
            <a:r>
              <a:rPr>
                <a:latin typeface="Courier"/>
              </a:rPr>
              <a:t>oran-du</a:t>
            </a:r>
            <a:r>
              <a:rPr/>
              <a:t>, </a:t>
            </a:r>
            <a:r>
              <a:rPr>
                <a:latin typeface="Courier"/>
              </a:rPr>
              <a:t>oran-core</a:t>
            </a:r>
            <a:r>
              <a:rPr/>
              <a:t>, sobre um O-Cloud provisionado pelo próprio Nephio (Parte 1)</a:t>
            </a:r>
          </a:p>
          <a:p>
            <a:pPr lvl="0"/>
            <a:r>
              <a:rPr/>
              <a:t>Autor: Diego Abreu — versão detalhada, atualizada em 2026-09-25 com 4 melhorias pós-entrega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Objetivo desta Parte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Demonstrar, com </a:t>
            </a:r>
            <a:r>
              <a:rPr b="1"/>
              <a:t>evidência mensurável</a:t>
            </a:r>
            <a:r>
              <a:rPr/>
              <a:t> (tempo, RAM, CPU), os quatro mecanismos centrais de SMO/orquestração: </a:t>
            </a:r>
            <a:r>
              <a:rPr b="1"/>
              <a:t>provisioning, configuration management, orchestration, lifecycle management</a:t>
            </a:r>
          </a:p>
          <a:p>
            <a:pPr lvl="0"/>
            <a:r>
              <a:rPr/>
              <a:t>Não é um roteiro “follow-along” — é um experimento real, com bugs reais encontrados e corrigidos ao vivo, documentados em vez de escondidos</a:t>
            </a:r>
          </a:p>
          <a:p>
            <a:pPr lvl="0"/>
            <a:r>
              <a:rPr/>
              <a:t>Critério de sucesso: cada operação tem que sair de um comando real, não de uma afirmação</a:t>
            </a:r>
          </a:p>
          <a:p>
            <a:pPr lvl="0"/>
            <a:r>
              <a:rPr/>
              <a:t>Distinguir o tempo todo </a:t>
            </a:r>
            <a:r>
              <a:rPr b="1"/>
              <a:t>4 “ciclos de vida” diferentes</a:t>
            </a:r>
            <a:r>
              <a:rPr/>
              <a:t>: Kubernetes, Nephio/orquestração, O2 IMS, e NF O-RAN real (este último — nunca demonstrado, e digo isso com todas as letras)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Recapitulando a tese da Parte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“Nephio is a cloud-native automation and orchestration platform that can implement or support functions associated with the SMO and O-Cloud management architecture.”</a:t>
            </a:r>
          </a:p>
          <a:p>
            <a:pPr lvl="0"/>
            <a:r>
              <a:rPr/>
              <a:t>Nephio </a:t>
            </a:r>
            <a:r>
              <a:rPr b="1"/>
              <a:t>não é</a:t>
            </a:r>
            <a:r>
              <a:rPr/>
              <a:t> o SMO oficial da especificação O-RAN — é uma plataforma de automação cloud-native que implementa </a:t>
            </a:r>
            <a:r>
              <a:rPr b="1"/>
              <a:t>partes</a:t>
            </a:r>
            <a:r>
              <a:rPr/>
              <a:t> das funções do SMO</a:t>
            </a:r>
          </a:p>
          <a:p>
            <a:pPr lvl="0"/>
            <a:r>
              <a:rPr/>
              <a:t>Forte em: provisioning de infraestrutura (O2 IMS), lifecycle de deployment Kubernetes</a:t>
            </a:r>
          </a:p>
          <a:p>
            <a:pPr lvl="0"/>
            <a:r>
              <a:rPr/>
              <a:t>Fraco/ausente em: O1 (FCAPS via NETCONF/YANG), Non-RT RIC/A1, telemetria O-RAN nativa</a:t>
            </a:r>
          </a:p>
          <a:p>
            <a:pPr lvl="0"/>
            <a:r>
              <a:rPr/>
              <a:t>Esta Parte 2 usa exatamente essa caracterização como roteiro dos experimentos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Ambiente e por que essas escolhas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Windows 11 + WSL2 Ubuntu, Docker Engine </a:t>
            </a:r>
            <a:r>
              <a:rPr b="1"/>
              <a:t>nativo</a:t>
            </a:r>
            <a:r>
              <a:rPr/>
              <a:t> no WSL2 (não Docker Desktop) — menor overhead</a:t>
            </a:r>
          </a:p>
          <a:p>
            <a:pPr lvl="0"/>
            <a:r>
              <a:rPr/>
              <a:t>Nephio R6 (</a:t>
            </a:r>
            <a:r>
              <a:rPr>
                <a:latin typeface="Courier"/>
              </a:rPr>
              <a:t>v6.0.0</a:t>
            </a:r>
            <a:r>
              <a:rPr/>
              <a:t>), instalado pacote-a-pacote via </a:t>
            </a:r>
            <a:r>
              <a:rPr>
                <a:latin typeface="Courier"/>
              </a:rPr>
              <a:t>kpt</a:t>
            </a:r>
            <a:r>
              <a:rPr/>
              <a:t> — não o instalador Ansible do sandbox (que traz Argo CD + Flux + WebUI completos, inviável em 16 GB)</a:t>
            </a:r>
          </a:p>
          <a:p>
            <a:pPr lvl="0"/>
            <a:r>
              <a:rPr>
                <a:latin typeface="Courier"/>
              </a:rPr>
              <a:t>.wslconfig</a:t>
            </a:r>
            <a:r>
              <a:rPr/>
              <a:t>: teto de </a:t>
            </a:r>
            <a:r>
              <a:rPr b="1"/>
              <a:t>9,7 GB</a:t>
            </a:r>
            <a:r>
              <a:rPr/>
              <a:t> para todo o laboratório, dentro de uma máquina de 16 GB</a:t>
            </a:r>
          </a:p>
          <a:p>
            <a:pPr lvl="0"/>
            <a:r>
              <a:rPr/>
              <a:t>100% local — sem cloud paga, sem OpenStack, sem cluster K8s externo</a:t>
            </a:r>
          </a:p>
          <a:p>
            <a:pPr lvl="0"/>
            <a:r>
              <a:rPr/>
              <a:t>kind (Kubernetes-in-Docker) para os dois clusters — leve, sem VM pesada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Arquitetura — conceito geral</a:t>
            </a:r>
          </a:p>
        </p:txBody>
      </p:sp>
      <p:pic>
        <p:nvPicPr>
          <p:cNvPr descr="assets/nephio-arch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81400" y="1193800"/>
            <a:ext cx="1981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Duas camadas: Management Cluster decide o quê/como configurar; Workload Cluster(s) roda as CNFs, reconciliadas via GitOps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Management Cluster</a:t>
            </a:r>
            <a:r>
              <a:rPr/>
              <a:t> (</a:t>
            </a:r>
            <a:r>
              <a:rPr>
                <a:latin typeface="Courier"/>
              </a:rPr>
              <a:t>nephio-mgmt</a:t>
            </a:r>
            <a:r>
              <a:rPr/>
              <a:t>): Nephio Core, Porch, repositório de pacotes, Config Sync</a:t>
            </a:r>
          </a:p>
          <a:p>
            <a:pPr lvl="0"/>
            <a:r>
              <a:rPr b="1"/>
              <a:t>Workload Cluster</a:t>
            </a:r>
            <a:r>
              <a:rPr/>
              <a:t> (</a:t>
            </a:r>
            <a:r>
              <a:rPr>
                <a:latin typeface="Courier"/>
              </a:rPr>
              <a:t>o-cloud-1</a:t>
            </a:r>
            <a:r>
              <a:rPr/>
              <a:t>): onde as CNFs realmente rodam</a:t>
            </a:r>
          </a:p>
          <a:p>
            <a:pPr lvl="0"/>
            <a:r>
              <a:rPr>
                <a:latin typeface="Courier"/>
              </a:rPr>
              <a:t>o-cloud-1</a:t>
            </a:r>
            <a:r>
              <a:rPr/>
              <a:t> foi </a:t>
            </a:r>
            <a:r>
              <a:rPr b="1"/>
              <a:t>provisionado pelo próprio Nephio</a:t>
            </a:r>
            <a:r>
              <a:rPr/>
              <a:t> via O2 IMS — não um </a:t>
            </a:r>
            <a:r>
              <a:rPr>
                <a:latin typeface="Courier"/>
              </a:rPr>
              <a:t>kind create</a:t>
            </a:r>
            <a:r>
              <a:rPr/>
              <a:t> manual (resultado da Parte 1, reaproveitado aqui como base)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Arquitetura final (com as 4 melhorias)</a:t>
            </a:r>
          </a:p>
        </p:txBody>
      </p:sp>
      <p:pic>
        <p:nvPicPr>
          <p:cNvPr descr="assets/architecture-final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073400" y="1193800"/>
            <a:ext cx="2997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Arquitetura final: O2 IMS + entrega de CNFs via Porch, RootSync contínuo, config-bridge e rapp-autoscale (novos, em destaque)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Camada 1 (infraestrutura): </a:t>
            </a:r>
            <a:r>
              <a:rPr>
                <a:latin typeface="Courier"/>
              </a:rPr>
              <a:t>ProvisioningRequest</a:t>
            </a:r>
            <a:r>
              <a:rPr/>
              <a:t> → </a:t>
            </a:r>
            <a:r>
              <a:rPr>
                <a:latin typeface="Courier"/>
              </a:rPr>
              <a:t>o2ims-operator</a:t>
            </a:r>
            <a:r>
              <a:rPr/>
              <a:t> → Cluster API/CAPD → </a:t>
            </a:r>
            <a:r>
              <a:rPr>
                <a:latin typeface="Courier"/>
              </a:rPr>
              <a:t>o-cloud-1</a:t>
            </a:r>
          </a:p>
          <a:p>
            <a:pPr lvl="0"/>
            <a:r>
              <a:rPr/>
              <a:t>Camada 2 (NFs): pacote kpt → Porch → </a:t>
            </a:r>
            <a:r>
              <a:rPr>
                <a:latin typeface="Courier"/>
              </a:rPr>
              <a:t>RootSync</a:t>
            </a:r>
            <a:r>
              <a:rPr/>
              <a:t> contínuo → </a:t>
            </a:r>
            <a:r>
              <a:rPr>
                <a:latin typeface="Courier"/>
              </a:rPr>
              <a:t>oran-cu/du/core</a:t>
            </a:r>
          </a:p>
          <a:p>
            <a:pPr lvl="0"/>
            <a:r>
              <a:rPr/>
              <a:t>Três peças em destaque (teal) são as melhorias pós-entrega — detalhadas na segunda metade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Ferramentas e o papel de cada uma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kpt</a:t>
            </a:r>
            <a:r>
              <a:rPr/>
              <a:t> — autoria do pacote, pipeline de funções, </a:t>
            </a:r>
            <a:r>
              <a:rPr>
                <a:latin typeface="Courier"/>
              </a:rPr>
              <a:t>kpt live apply</a:t>
            </a:r>
            <a:r>
              <a:rPr/>
              <a:t> (reconciliação declarativa com inventário </a:t>
            </a:r>
            <a:r>
              <a:rPr>
                <a:latin typeface="Courier"/>
              </a:rPr>
              <a:t>ResourceGroup</a:t>
            </a:r>
            <a:r>
              <a:rPr/>
              <a:t>)</a:t>
            </a:r>
          </a:p>
          <a:p>
            <a:pPr lvl="0"/>
            <a:r>
              <a:rPr b="1"/>
              <a:t>Porch / </a:t>
            </a:r>
            <a:r>
              <a:rPr b="1">
                <a:latin typeface="Courier"/>
              </a:rPr>
              <a:t>porchctl</a:t>
            </a:r>
            <a:r>
              <a:rPr/>
              <a:t> — ciclo de vida do pacote: Draft → Proposed → Published</a:t>
            </a:r>
          </a:p>
          <a:p>
            <a:pPr lvl="0"/>
            <a:r>
              <a:rPr b="1"/>
              <a:t>kind + Cluster API + CAPD</a:t>
            </a:r>
            <a:r>
              <a:rPr/>
              <a:t> — criação do </a:t>
            </a:r>
            <a:r>
              <a:rPr>
                <a:latin typeface="Courier"/>
              </a:rPr>
              <a:t>o-cloud-1</a:t>
            </a:r>
            <a:r>
              <a:rPr/>
              <a:t> via O2 IMS</a:t>
            </a:r>
          </a:p>
          <a:p>
            <a:pPr lvl="0"/>
            <a:r>
              <a:rPr b="1"/>
              <a:t>kubectl</a:t>
            </a:r>
            <a:r>
              <a:rPr/>
              <a:t> — operações imperativas de comparação (scale, delete pod) e validação</a:t>
            </a:r>
          </a:p>
          <a:p>
            <a:pPr lvl="0"/>
            <a:r>
              <a:rPr b="1"/>
              <a:t>FastAPI/Python + Docker</a:t>
            </a:r>
            <a:r>
              <a:rPr/>
              <a:t> — as 3 CNFs simuladas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 Network Functions simuladas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oran-cu</a:t>
            </a:r>
            <a:r>
              <a:rPr/>
              <a:t>, </a:t>
            </a:r>
            <a:r>
              <a:rPr>
                <a:latin typeface="Courier"/>
              </a:rPr>
              <a:t>oran-du</a:t>
            </a:r>
            <a:r>
              <a:rPr/>
              <a:t>, </a:t>
            </a:r>
            <a:r>
              <a:rPr>
                <a:latin typeface="Courier"/>
              </a:rPr>
              <a:t>oran-core</a:t>
            </a:r>
            <a:r>
              <a:rPr/>
              <a:t> — serviços FastAPI, ~30–50 MiB de RAM cada</a:t>
            </a:r>
          </a:p>
          <a:p>
            <a:pPr lvl="0"/>
            <a:r>
              <a:rPr/>
              <a:t>Cada uma expõe </a:t>
            </a:r>
            <a:r>
              <a:rPr>
                <a:latin typeface="Courier"/>
              </a:rPr>
              <a:t>/health</a:t>
            </a:r>
            <a:r>
              <a:rPr/>
              <a:t>, </a:t>
            </a:r>
            <a:r>
              <a:rPr>
                <a:latin typeface="Courier"/>
              </a:rPr>
              <a:t>/config</a:t>
            </a:r>
            <a:r>
              <a:rPr/>
              <a:t> (GET/PUT/POST), </a:t>
            </a:r>
            <a:r>
              <a:rPr>
                <a:latin typeface="Courier"/>
              </a:rPr>
              <a:t>/metrics</a:t>
            </a:r>
            <a:r>
              <a:rPr/>
              <a:t> (formato Prometheus)</a:t>
            </a:r>
          </a:p>
          <a:p>
            <a:pPr lvl="0"/>
            <a:r>
              <a:rPr b="1"/>
              <a:t>Workloads representativos — não NFs O-RAN reais</a:t>
            </a:r>
            <a:r>
              <a:rPr/>
              <a:t>: sem protocolos de rádio, sem planos de usuário/controle, sem interfaces F1/E1/E2</a:t>
            </a:r>
          </a:p>
          <a:p>
            <a:pPr lvl="0"/>
            <a:r>
              <a:rPr/>
              <a:t>Servem para exercitar </a:t>
            </a:r>
            <a:r>
              <a:rPr b="1"/>
              <a:t>mecanismos de orquestração</a:t>
            </a:r>
            <a:r>
              <a:rPr/>
              <a:t>, não para simular tráfego de rede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Por que não usei uma NF real (avaliação feita)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Avaliei 3 alternativas para o próximo passo: </a:t>
            </a:r>
            <a:r>
              <a:rPr b="1"/>
              <a:t>UERANSIM</a:t>
            </a:r>
            <a:r>
              <a:rPr/>
              <a:t>, </a:t>
            </a:r>
            <a:r>
              <a:rPr b="1"/>
              <a:t>free5GC</a:t>
            </a:r>
            <a:r>
              <a:rPr/>
              <a:t>, </a:t>
            </a:r>
            <a:r>
              <a:rPr b="1"/>
              <a:t>OpenAirInterface</a:t>
            </a:r>
          </a:p>
          <a:p>
            <a:pPr lvl="0"/>
            <a:r>
              <a:rPr/>
              <a:t>UERANSIM sozinho: ~2 GB/2 CPU — mas não funciona sem um AMF real por trás</a:t>
            </a:r>
          </a:p>
          <a:p>
            <a:pPr lvl="0"/>
            <a:r>
              <a:rPr/>
              <a:t>free5GC completo: 4 GB mínimo / 8 GB recomendado — </a:t>
            </a:r>
            <a:r>
              <a:rPr b="1"/>
              <a:t>sozinho já consome quase todo o orçamento restante</a:t>
            </a:r>
            <a:r>
              <a:rPr/>
              <a:t> (Nephio + O2 IMS + O-Cloud já usam ~3,9 GiB)</a:t>
            </a:r>
          </a:p>
          <a:p>
            <a:pPr lvl="0"/>
            <a:r>
              <a:rPr/>
              <a:t>OpenAirInterface: footprint imprevisível, maior complexidade — e o próprio enunciado pediu para não instalar</a:t>
            </a:r>
          </a:p>
          <a:p>
            <a:pPr lvl="0"/>
            <a:r>
              <a:rPr b="1"/>
              <a:t>Decisão:</a:t>
            </a:r>
            <a:r>
              <a:rPr/>
              <a:t> nenhuma NF real cabia ao lado do Nephio completo em 16 GB — documentado, não simplesmente omitido (</a:t>
            </a:r>
            <a:r>
              <a:rPr>
                <a:latin typeface="Courier"/>
              </a:rPr>
              <a:t>docs/real-nf-extension.md</a:t>
            </a:r>
            <a:r>
              <a:rPr/>
              <a:t>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Fluxo de provisionamento das NFs — conceito</a:t>
            </a:r>
          </a:p>
        </p:txBody>
      </p:sp>
      <p:pic>
        <p:nvPicPr>
          <p:cNvPr descr="assets/provisioning-flow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216400" y="1193800"/>
            <a:ext cx="711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Intent (pacote kpt autoral) → Package (Draft) → Repository (Published) → Reconciliation (kpt live apply) → Kubernetes → CNF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As NFs chegam ao </a:t>
            </a:r>
            <a:r>
              <a:rPr>
                <a:latin typeface="Courier"/>
              </a:rPr>
              <a:t>o-cloud-1</a:t>
            </a:r>
            <a:r>
              <a:rPr/>
              <a:t> por um </a:t>
            </a:r>
            <a:r>
              <a:rPr b="1"/>
              <a:t>pacote kpt publicado no Porch</a:t>
            </a:r>
            <a:r>
              <a:rPr/>
              <a:t> — não por </a:t>
            </a:r>
            <a:r>
              <a:rPr>
                <a:latin typeface="Courier"/>
              </a:rPr>
              <a:t>kubectl apply</a:t>
            </a:r>
            <a:r>
              <a:rPr/>
              <a:t> direto</a:t>
            </a:r>
          </a:p>
          <a:p>
            <a:pPr lvl="0"/>
            <a:r>
              <a:rPr/>
              <a:t>Repositório Porch dedicado: </a:t>
            </a:r>
            <a:r>
              <a:rPr>
                <a:latin typeface="Courier"/>
              </a:rPr>
              <a:t>openran-cnfs</a:t>
            </a:r>
          </a:p>
          <a:p>
            <a:pPr lvl="0"/>
            <a:r>
              <a:rPr/>
              <a:t>Cada mudança de conteúdo = uma </a:t>
            </a:r>
            <a:r>
              <a:rPr b="1"/>
              <a:t>nova revisão</a:t>
            </a:r>
            <a:r>
              <a:rPr/>
              <a:t> do pacote (Porch não permite </a:t>
            </a:r>
            <a:r>
              <a:rPr>
                <a:latin typeface="Courier"/>
              </a:rPr>
              <a:t>push</a:t>
            </a:r>
            <a:r>
              <a:rPr/>
              <a:t> sobre uma revisão já Published — histórico completo preservado)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Experimento 1 — Instantiate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 b="1"/>
              <a:t>Comando:</a:t>
            </a:r>
            <a:r>
              <a:rPr/>
              <a:t> </a:t>
            </a:r>
            <a:r>
              <a:rPr>
                <a:latin typeface="Courier"/>
              </a:rPr>
              <a:t>bash lab/nephio/deploy-cnfs-via-porch.sh</a:t>
            </a:r>
          </a:p>
          <a:p>
            <a:pPr lvl="0"/>
            <a:r>
              <a:rPr b="1"/>
              <a:t>O que faz:</a:t>
            </a:r>
            <a:r>
              <a:rPr/>
              <a:t> publica o pacote no Porch (</a:t>
            </a:r>
            <a:r>
              <a:rPr>
                <a:latin typeface="Courier"/>
              </a:rPr>
              <a:t>rpkg copy/push/propose/approve</a:t>
            </a:r>
            <a:r>
              <a:rPr/>
              <a:t>), depois </a:t>
            </a:r>
            <a:r>
              <a:rPr>
                <a:latin typeface="Courier"/>
              </a:rPr>
              <a:t>kpt live apply</a:t>
            </a:r>
            <a:r>
              <a:rPr/>
              <a:t> no </a:t>
            </a:r>
            <a:r>
              <a:rPr>
                <a:latin typeface="Courier"/>
              </a:rPr>
              <a:t>o-cloud-1</a:t>
            </a:r>
          </a:p>
          <a:p>
            <a:pPr lvl="0"/>
            <a:r>
              <a:rPr b="1"/>
              <a:t>Resultado:</a:t>
            </a:r>
            <a:r>
              <a:rPr/>
              <a:t> 3/3 CNFs </a:t>
            </a:r>
            <a:r>
              <a:rPr>
                <a:latin typeface="Courier"/>
              </a:rPr>
              <a:t>Running</a:t>
            </a:r>
            <a:r>
              <a:rPr/>
              <a:t> do zero em </a:t>
            </a:r>
            <a:r>
              <a:rPr b="1"/>
              <a:t>20,4 s</a:t>
            </a:r>
          </a:p>
        </p:txBody>
      </p:sp>
      <p:pic>
        <p:nvPicPr>
          <p:cNvPr descr="assets/term-exp1-apply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850900"/>
            <a:ext cx="5105400" cy="257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Terminal real: apply result 10 attempted, 10 successful — 3 CNFs Running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Duas camadas de configuração — por que distinguir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Configuração operacional da NF</a:t>
            </a:r>
            <a:r>
              <a:rPr/>
              <a:t> — análoga ao que O1/NETCONF faria numa NF real: API própria </a:t>
            </a:r>
            <a:r>
              <a:rPr>
                <a:latin typeface="Courier"/>
              </a:rPr>
              <a:t>/config</a:t>
            </a:r>
            <a:r>
              <a:rPr/>
              <a:t> de cada CNF</a:t>
            </a:r>
          </a:p>
          <a:p>
            <a:pPr lvl="0"/>
            <a:r>
              <a:rPr b="1"/>
              <a:t>Configuração de implantação</a:t>
            </a:r>
            <a:r>
              <a:rPr/>
              <a:t> (pacote/GitOps) — mudar o </a:t>
            </a:r>
            <a:r>
              <a:rPr>
                <a:latin typeface="Courier"/>
              </a:rPr>
              <a:t>ConfigMap</a:t>
            </a:r>
            <a:r>
              <a:rPr/>
              <a:t>/</a:t>
            </a:r>
            <a:r>
              <a:rPr>
                <a:latin typeface="Courier"/>
              </a:rPr>
              <a:t>Deployment</a:t>
            </a:r>
            <a:r>
              <a:rPr/>
              <a:t> no pacote autoral e republicar via Porch</a:t>
            </a:r>
          </a:p>
          <a:p>
            <a:pPr lvl="0"/>
            <a:r>
              <a:rPr/>
              <a:t>Nephio </a:t>
            </a:r>
            <a:r>
              <a:rPr b="1"/>
              <a:t>não implementa O1</a:t>
            </a:r>
            <a:r>
              <a:rPr/>
              <a:t> — então a API </a:t>
            </a:r>
            <a:r>
              <a:rPr>
                <a:latin typeface="Courier"/>
              </a:rPr>
              <a:t>/config</a:t>
            </a:r>
            <a:r>
              <a:rPr/>
              <a:t> é o substituto de laboratório para essa camada, não uma alegação de que isso É O1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Experimento 2 — Configuration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Comando:</a:t>
            </a:r>
            <a:r>
              <a:rPr/>
              <a:t> </a:t>
            </a:r>
            <a:r>
              <a:rPr>
                <a:latin typeface="Courier"/>
              </a:rPr>
              <a:t>PUT /config {"cell_id": 2}</a:t>
            </a:r>
            <a:r>
              <a:rPr/>
              <a:t> no </a:t>
            </a:r>
            <a:r>
              <a:rPr>
                <a:latin typeface="Courier"/>
              </a:rPr>
              <a:t>oran-du</a:t>
            </a:r>
          </a:p>
          <a:p>
            <a:pPr lvl="0"/>
            <a:r>
              <a:rPr b="1"/>
              <a:t>Resultado:</a:t>
            </a:r>
            <a:r>
              <a:rPr/>
              <a:t> </a:t>
            </a:r>
            <a:r>
              <a:rPr>
                <a:latin typeface="Courier"/>
              </a:rPr>
              <a:t>cell_id</a:t>
            </a:r>
            <a:r>
              <a:rPr/>
              <a:t> </a:t>
            </a:r>
            <a:r>
              <a:rPr>
                <a:latin typeface="Courier"/>
              </a:rPr>
              <a:t>1 → 2</a:t>
            </a:r>
            <a:r>
              <a:rPr/>
              <a:t>, </a:t>
            </a:r>
            <a:r>
              <a:rPr>
                <a:latin typeface="Courier"/>
              </a:rPr>
              <a:t>config_version</a:t>
            </a:r>
            <a:r>
              <a:rPr/>
              <a:t> </a:t>
            </a:r>
            <a:r>
              <a:rPr>
                <a:latin typeface="Courier"/>
              </a:rPr>
              <a:t>1 → 2</a:t>
            </a:r>
            <a:r>
              <a:rPr/>
              <a:t>, em </a:t>
            </a:r>
            <a:r>
              <a:rPr b="1"/>
              <a:t>0,7 s</a:t>
            </a:r>
          </a:p>
          <a:p>
            <a:pPr lvl="0"/>
            <a:r>
              <a:rPr/>
              <a:t>Prova que a camada operacional da NF responde e versiona suas próprias mudanças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Experimento 3 —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Comando:</a:t>
            </a:r>
            <a:r>
              <a:rPr/>
              <a:t> </a:t>
            </a:r>
            <a:r>
              <a:rPr>
                <a:latin typeface="Courier"/>
              </a:rPr>
              <a:t>kubectl scale deploy/oran-cu --replicas=2</a:t>
            </a:r>
          </a:p>
          <a:p>
            <a:pPr lvl="0"/>
            <a:r>
              <a:rPr b="1"/>
              <a:t>Resultado:</a:t>
            </a:r>
            <a:r>
              <a:rPr/>
              <a:t> rollout concluído, </a:t>
            </a:r>
            <a:r>
              <a:rPr>
                <a:latin typeface="Courier"/>
              </a:rPr>
              <a:t>oran-cu</a:t>
            </a:r>
            <a:r>
              <a:rPr/>
              <a:t> 2/2 </a:t>
            </a:r>
            <a:r>
              <a:rPr>
                <a:latin typeface="Courier"/>
              </a:rPr>
              <a:t>Running</a:t>
            </a:r>
            <a:r>
              <a:rPr/>
              <a:t>, em </a:t>
            </a:r>
            <a:r>
              <a:rPr b="1"/>
              <a:t>5,7 s</a:t>
            </a:r>
          </a:p>
          <a:p>
            <a:pPr lvl="0"/>
            <a:r>
              <a:rPr/>
              <a:t>Mecanismo: </a:t>
            </a:r>
            <a:r>
              <a:rPr b="1"/>
              <a:t>ReplicaSet controller do Kubernetes</a:t>
            </a:r>
            <a:r>
              <a:rPr/>
              <a:t> — o mesmo mecanismo genérico usado por qualquer aplicação, não um scaling orientado por KPI de rede O-RAN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Experimento 5 — Upgrade (achado real)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Comando:</a:t>
            </a:r>
            <a:r>
              <a:rPr/>
              <a:t> atualizar </a:t>
            </a:r>
            <a:r>
              <a:rPr>
                <a:latin typeface="Courier"/>
              </a:rPr>
              <a:t>NF_VERSION</a:t>
            </a:r>
            <a:r>
              <a:rPr/>
              <a:t> v1→v2 no pacote e republicar via Porch</a:t>
            </a:r>
          </a:p>
          <a:p>
            <a:pPr lvl="0"/>
            <a:r>
              <a:rPr b="1"/>
              <a:t>Resultado:</a:t>
            </a:r>
            <a:r>
              <a:rPr/>
              <a:t> </a:t>
            </a:r>
            <a:r>
              <a:rPr>
                <a:latin typeface="Courier"/>
              </a:rPr>
              <a:t>revision</a:t>
            </a:r>
            <a:r>
              <a:rPr/>
              <a:t> do Deployment 1→2, rollout real, </a:t>
            </a:r>
            <a:r>
              <a:rPr>
                <a:latin typeface="Courier"/>
              </a:rPr>
              <a:t>/health.nf_version=v2</a:t>
            </a:r>
            <a:r>
              <a:rPr/>
              <a:t>, em </a:t>
            </a:r>
            <a:r>
              <a:rPr b="1"/>
              <a:t>15,0 s</a:t>
            </a:r>
          </a:p>
          <a:p>
            <a:pPr lvl="0"/>
            <a:r>
              <a:rPr b="1"/>
              <a:t>Achado real:</a:t>
            </a:r>
            <a:r>
              <a:rPr/>
              <a:t> mudar </a:t>
            </a:r>
            <a:r>
              <a:rPr b="1"/>
              <a:t>só</a:t>
            </a:r>
            <a:r>
              <a:rPr/>
              <a:t> o </a:t>
            </a:r>
            <a:r>
              <a:rPr>
                <a:latin typeface="Courier"/>
              </a:rPr>
              <a:t>ConfigMap</a:t>
            </a:r>
            <a:r>
              <a:rPr/>
              <a:t> (consumido via </a:t>
            </a:r>
            <a:r>
              <a:rPr>
                <a:latin typeface="Courier"/>
              </a:rPr>
              <a:t>envFrom</a:t>
            </a:r>
            <a:r>
              <a:rPr/>
              <a:t>) </a:t>
            </a:r>
            <a:r>
              <a:rPr b="1"/>
              <a:t>não</a:t>
            </a:r>
            <a:r>
              <a:rPr/>
              <a:t> dispara rollout — o hash do pod template não muda</a:t>
            </a:r>
          </a:p>
          <a:p>
            <a:pPr lvl="0"/>
            <a:r>
              <a:rPr b="1"/>
              <a:t>Correção:</a:t>
            </a:r>
            <a:r>
              <a:rPr/>
              <a:t> anotação de versão em </a:t>
            </a:r>
            <a:r>
              <a:rPr>
                <a:latin typeface="Courier"/>
              </a:rPr>
              <a:t>spec.template.metadata.annotations</a:t>
            </a:r>
            <a:r>
              <a:rPr/>
              <a:t>, que força um novo </a:t>
            </a:r>
            <a:r>
              <a:rPr>
                <a:latin typeface="Courier"/>
              </a:rPr>
              <a:t>ReplicaSet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Experimento 4 — Recover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Comando:</a:t>
            </a:r>
            <a:r>
              <a:rPr/>
              <a:t> </a:t>
            </a:r>
            <a:r>
              <a:rPr>
                <a:latin typeface="Courier"/>
              </a:rPr>
              <a:t>kubectl delete pod</a:t>
            </a:r>
            <a:r>
              <a:rPr/>
              <a:t> no </a:t>
            </a:r>
            <a:r>
              <a:rPr>
                <a:latin typeface="Courier"/>
              </a:rPr>
              <a:t>oran-du</a:t>
            </a:r>
          </a:p>
          <a:p>
            <a:pPr lvl="0"/>
            <a:r>
              <a:rPr b="1"/>
              <a:t>Resultado:</a:t>
            </a:r>
            <a:r>
              <a:rPr/>
              <a:t> ReplicaSet recria em </a:t>
            </a:r>
            <a:r>
              <a:rPr b="1"/>
              <a:t>3,9 s</a:t>
            </a:r>
            <a:r>
              <a:rPr/>
              <a:t> — pod novo, nome diferente</a:t>
            </a:r>
          </a:p>
          <a:p>
            <a:pPr lvl="0"/>
            <a:r>
              <a:rPr b="1"/>
              <a:t>Isto é self-healing do Kubernetes</a:t>
            </a:r>
            <a:r>
              <a:rPr/>
              <a:t> (estado desejado × estado real) — </a:t>
            </a:r>
            <a:r>
              <a:rPr b="1"/>
              <a:t>não</a:t>
            </a:r>
            <a:r>
              <a:rPr/>
              <a:t> é healing de uma NF de telecom: sem estado de sessão, sem re-registro em interfaces O-RAN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Experimento 6 — Terminate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Comando:</a:t>
            </a:r>
            <a:r>
              <a:rPr/>
              <a:t> remover </a:t>
            </a:r>
            <a:r>
              <a:rPr>
                <a:latin typeface="Courier"/>
              </a:rPr>
              <a:t>oran-core</a:t>
            </a:r>
            <a:r>
              <a:rPr/>
              <a:t> do pacote e republicar</a:t>
            </a:r>
          </a:p>
          <a:p>
            <a:pPr lvl="0"/>
            <a:r>
              <a:rPr b="1"/>
              <a:t>Resultado:</a:t>
            </a:r>
            <a:r>
              <a:rPr/>
              <a:t> </a:t>
            </a:r>
            <a:r>
              <a:rPr>
                <a:latin typeface="Courier"/>
              </a:rPr>
              <a:t>oran-core</a:t>
            </a:r>
            <a:r>
              <a:rPr/>
              <a:t> removido via </a:t>
            </a:r>
            <a:r>
              <a:rPr b="1"/>
              <a:t>prune</a:t>
            </a:r>
            <a:r>
              <a:rPr/>
              <a:t> do </a:t>
            </a:r>
            <a:r>
              <a:rPr>
                <a:latin typeface="Courier"/>
              </a:rPr>
              <a:t>kpt live apply</a:t>
            </a:r>
            <a:r>
              <a:rPr/>
              <a:t>, em </a:t>
            </a:r>
            <a:r>
              <a:rPr b="1"/>
              <a:t>10,8 s</a:t>
            </a:r>
          </a:p>
          <a:p>
            <a:pPr lvl="0"/>
            <a:r>
              <a:rPr/>
              <a:t>Terminação pelo </a:t>
            </a:r>
            <a:r>
              <a:rPr b="1"/>
              <a:t>mesmo mecanismo declarativo</a:t>
            </a:r>
            <a:r>
              <a:rPr/>
              <a:t> que criou o recurso — não um </a:t>
            </a:r>
            <a:r>
              <a:rPr>
                <a:latin typeface="Courier"/>
              </a:rPr>
              <a:t>kubectl delete</a:t>
            </a:r>
            <a:r>
              <a:rPr/>
              <a:t> avulso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Resultados consolidados (entrega original)</a:t>
            </a:r>
          </a:p>
        </p:txBody>
      </p:sp>
      <p:pic>
        <p:nvPicPr>
          <p:cNvPr descr="assets/experiments-duration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273300" y="1193800"/>
            <a:ext cx="4597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Duração real de todos os experimentos e melhorias, por categoria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6/6 experimentos formais: </a:t>
            </a:r>
            <a:r>
              <a:rPr b="1">
                <a:latin typeface="Courier"/>
              </a:rPr>
              <a:t>success</a:t>
            </a:r>
            <a:r>
              <a:rPr/>
              <a:t> (</a:t>
            </a:r>
            <a:r>
              <a:rPr>
                <a:latin typeface="Courier"/>
              </a:rPr>
              <a:t>results/experiments.csv</a:t>
            </a:r>
            <a:r>
              <a:rPr/>
              <a:t>)</a:t>
            </a:r>
          </a:p>
          <a:p>
            <a:pPr lvl="0"/>
            <a:r>
              <a:rPr>
                <a:latin typeface="Courier"/>
              </a:rPr>
              <a:t>scripts/validate-lab.sh</a:t>
            </a:r>
            <a:r>
              <a:rPr/>
              <a:t>: </a:t>
            </a:r>
            <a:r>
              <a:rPr b="1"/>
              <a:t>10/10 PASS</a:t>
            </a:r>
            <a:r>
              <a:rPr/>
              <a:t>, reexecutando automaticamente instantiate/scale/recover/terminate</a:t>
            </a:r>
          </a:p>
        </p:txBody>
      </p:sp>
      <p:pic>
        <p:nvPicPr>
          <p:cNvPr descr="assets/term-validate-lab.png" id="0" name="Picture 1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1003300" y="1193800"/>
            <a:ext cx="7150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validate-lab.sh: 10/10 PASS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Uso de RAM (entrega original)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nephio-mgmt</a:t>
            </a:r>
            <a:r>
              <a:rPr/>
              <a:t> (Nephio R6 completo): </a:t>
            </a:r>
            <a:r>
              <a:rPr b="1"/>
              <a:t>~3,7–3,9 GiB</a:t>
            </a:r>
          </a:p>
          <a:p>
            <a:pPr lvl="0"/>
            <a:r>
              <a:rPr>
                <a:latin typeface="Courier"/>
              </a:rPr>
              <a:t>o-cloud-1</a:t>
            </a:r>
            <a:r>
              <a:rPr/>
              <a:t> (2 nós K8s): </a:t>
            </a:r>
            <a:r>
              <a:rPr b="1"/>
              <a:t>~1,4 GiB</a:t>
            </a:r>
          </a:p>
          <a:p>
            <a:pPr lvl="0"/>
            <a:r>
              <a:rPr/>
              <a:t>3 CNFs simuladas (juntas): </a:t>
            </a:r>
            <a:r>
              <a:rPr b="1"/>
              <a:t>&lt; 200 MiB</a:t>
            </a:r>
          </a:p>
          <a:p>
            <a:pPr lvl="0"/>
            <a:r>
              <a:rPr b="1"/>
              <a:t>Total: ~3,9 GiB usados de 9,7 GiB configurados</a:t>
            </a:r>
            <a:r>
              <a:rPr/>
              <a:t> — bem abaixo da meta de 10–12 GB do enunciado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 que ficou de fora na entrega original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Sem GitOps contínuo no </a:t>
            </a:r>
            <a:r>
              <a:rPr b="1">
                <a:latin typeface="Courier"/>
              </a:rPr>
              <a:t>o-cloud-1</a:t>
            </a:r>
            <a:r>
              <a:rPr/>
              <a:t> — entrega via </a:t>
            </a:r>
            <a:r>
              <a:rPr>
                <a:latin typeface="Courier"/>
              </a:rPr>
              <a:t>kpt live apply</a:t>
            </a:r>
            <a:r>
              <a:rPr/>
              <a:t> sob demanda, não um </a:t>
            </a:r>
            <a:r>
              <a:rPr>
                <a:latin typeface="Courier"/>
              </a:rPr>
              <a:t>RootSync</a:t>
            </a:r>
            <a:r>
              <a:rPr/>
              <a:t> observando o repositório continuamente</a:t>
            </a:r>
          </a:p>
          <a:p>
            <a:pPr lvl="0"/>
            <a:r>
              <a:rPr b="1"/>
              <a:t>Sem monitoramento por métrica</a:t>
            </a:r>
            <a:r>
              <a:rPr/>
              <a:t> — só </a:t>
            </a:r>
            <a:r>
              <a:rPr>
                <a:latin typeface="Courier"/>
              </a:rPr>
              <a:t>docker stats</a:t>
            </a:r>
            <a:r>
              <a:rPr/>
              <a:t>/eventos, sem </a:t>
            </a:r>
            <a:r>
              <a:rPr>
                <a:latin typeface="Courier"/>
              </a:rPr>
              <a:t>metrics-server</a:t>
            </a:r>
          </a:p>
          <a:p>
            <a:pPr lvl="0"/>
            <a:r>
              <a:rPr b="1">
                <a:latin typeface="Courier"/>
              </a:rPr>
              <a:t>cell_id</a:t>
            </a:r>
            <a:r>
              <a:rPr b="1"/>
              <a:t> não propagava de volta ao pacote</a:t>
            </a:r>
            <a:r>
              <a:rPr/>
              <a:t> — mudança via </a:t>
            </a:r>
            <a:r>
              <a:rPr>
                <a:latin typeface="Courier"/>
              </a:rPr>
              <a:t>/config</a:t>
            </a:r>
            <a:r>
              <a:rPr/>
              <a:t> e via pacote eram caminhos independentes</a:t>
            </a:r>
          </a:p>
          <a:p>
            <a:pPr lvl="0"/>
            <a:r>
              <a:rPr b="1"/>
              <a:t>Sem O1, sem NF real, sem Non-RT RIC/rApp, sem xApp/E2</a:t>
            </a:r>
            <a:r>
              <a:rPr/>
              <a:t> — fronteiras já mapeadas na Parte 1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Por que as melhorias pós-entrega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Depois da entrega, revisei com o avaliador: “a parte de SMO foi bem implementada? O1/O2/A1 fazem sentido? Vale simular um xApp ou rApp?”</a:t>
            </a:r>
          </a:p>
          <a:p>
            <a:pPr lvl="0"/>
            <a:r>
              <a:rPr/>
              <a:t>Decisão registrada: </a:t>
            </a:r>
            <a:r>
              <a:rPr b="1"/>
              <a:t>rApp faz sentido</a:t>
            </a:r>
            <a:r>
              <a:rPr/>
              <a:t> (roda no Non-RT RIC, parte do próprio SMO) — </a:t>
            </a:r>
            <a:r>
              <a:rPr b="1"/>
              <a:t>xApp não</a:t>
            </a:r>
            <a:r>
              <a:rPr/>
              <a:t> (exigiria Near-RT RIC + protocolo E2 real, que as CNFs não implementam — seria inventar uma interface inexistente)</a:t>
            </a:r>
          </a:p>
          <a:p>
            <a:pPr lvl="0"/>
            <a:r>
              <a:rPr/>
              <a:t>Não existe “A2” na especificação O-RAN — as interfaces reais do lado RIC são </a:t>
            </a:r>
            <a:r>
              <a:rPr b="1"/>
              <a:t>A1</a:t>
            </a:r>
            <a:r>
              <a:rPr/>
              <a:t> e </a:t>
            </a:r>
            <a:r>
              <a:rPr b="1"/>
              <a:t>E2</a:t>
            </a:r>
          </a:p>
          <a:p>
            <a:pPr lvl="0"/>
            <a:r>
              <a:rPr/>
              <a:t>Resultado: 4 melhorias, todas dentro do mesmo orçamento de 16 GB, cada uma com evidência real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Melhoria 1 — metrics-server (Monitoring)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Instalado no </a:t>
            </a:r>
            <a:r>
              <a:rPr>
                <a:latin typeface="Courier"/>
              </a:rPr>
              <a:t>o-cloud-1</a:t>
            </a:r>
            <a:r>
              <a:rPr/>
              <a:t>: manifesto oficial + patch </a:t>
            </a:r>
            <a:r>
              <a:rPr>
                <a:latin typeface="Courier"/>
              </a:rPr>
              <a:t>--kubelet-insecure-tls</a:t>
            </a:r>
          </a:p>
          <a:p>
            <a:pPr lvl="0"/>
            <a:r>
              <a:rPr/>
              <a:t>Fecha “Monitoring: não incluído nativamente” da tabela SMO×Nephio da Parte 1</a:t>
            </a:r>
          </a:p>
          <a:p>
            <a:pPr lvl="0"/>
            <a:r>
              <a:rPr/>
              <a:t>Custo: </a:t>
            </a:r>
            <a:r>
              <a:rPr b="1"/>
              <a:t>~15 MiB de RAM</a:t>
            </a:r>
          </a:p>
        </p:txBody>
      </p:sp>
      <p:pic>
        <p:nvPicPr>
          <p:cNvPr descr="assets/term-metrics-top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1308100"/>
            <a:ext cx="5105400" cy="1676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kubectl top nodes/pods — dados reais de CPU e memória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Melhoria 2 — RootSync contínuo (Orchestration)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Config Sync instalado no </a:t>
            </a:r>
            <a:r>
              <a:rPr b="1"/>
              <a:t>próprio</a:t>
            </a:r>
            <a:r>
              <a:rPr/>
              <a:t> </a:t>
            </a:r>
            <a:r>
              <a:rPr>
                <a:latin typeface="Courier"/>
              </a:rPr>
              <a:t>o-cloud-1</a:t>
            </a:r>
            <a:r>
              <a:rPr/>
              <a:t> (mesmo pacote kpt oficial do management cluster), com </a:t>
            </a:r>
            <a:r>
              <a:rPr>
                <a:latin typeface="Courier"/>
              </a:rPr>
              <a:t>RootSync</a:t>
            </a:r>
            <a:r>
              <a:rPr/>
              <a:t> apontando pro repositório </a:t>
            </a:r>
            <a:r>
              <a:rPr>
                <a:latin typeface="Courier"/>
              </a:rPr>
              <a:t>openran-cnfs</a:t>
            </a:r>
          </a:p>
          <a:p>
            <a:pPr lvl="0"/>
            <a:r>
              <a:rPr/>
              <a:t>Fecha “sem GitOps contínuo” — a entrega deixa de depender de rodar o script manualmente</a:t>
            </a:r>
          </a:p>
          <a:p>
            <a:pPr lvl="0"/>
            <a:r>
              <a:rPr b="1"/>
              <a:t>Prova real de continuidade:</a:t>
            </a:r>
            <a:r>
              <a:rPr/>
              <a:t> publiquei v3 no Porch </a:t>
            </a:r>
            <a:r>
              <a:rPr b="1"/>
              <a:t>sem tocar no cluster</a:t>
            </a:r>
            <a:r>
              <a:rPr/>
              <a:t> — aplicado sozinho em </a:t>
            </a:r>
            <a:r>
              <a:rPr b="1"/>
              <a:t>19 s</a:t>
            </a:r>
            <a:r>
              <a:rPr/>
              <a:t> (commit </a:t>
            </a:r>
            <a:r>
              <a:rPr>
                <a:latin typeface="Courier"/>
              </a:rPr>
              <a:t>1bdae53d</a:t>
            </a:r>
            <a:r>
              <a:rPr/>
              <a:t> → </a:t>
            </a:r>
            <a:r>
              <a:rPr>
                <a:latin typeface="Courier"/>
              </a:rPr>
              <a:t>oran-cu.nf-version=v3</a:t>
            </a:r>
            <a:r>
              <a:rPr/>
              <a:t>)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Melhoria 3 — config-bridge (Configuration)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Fecha o loop </a:t>
            </a:r>
            <a:r>
              <a:rPr>
                <a:latin typeface="Courier"/>
              </a:rPr>
              <a:t>/config</a:t>
            </a:r>
            <a:r>
              <a:rPr/>
              <a:t> (NF) → pacote: um poller detecta drift entre o </a:t>
            </a:r>
            <a:r>
              <a:rPr>
                <a:latin typeface="Courier"/>
              </a:rPr>
              <a:t>/config</a:t>
            </a:r>
            <a:r>
              <a:rPr/>
              <a:t> ao vivo e o ConfigMap publicado, e comita a correção — o RootSync (Melhoria 2) reconcilia o resto sozinho</a:t>
            </a:r>
          </a:p>
          <a:p>
            <a:pPr lvl="0"/>
            <a:r>
              <a:rPr/>
              <a:t>Pré-requisito: a config de domínio (</a:t>
            </a:r>
            <a:r>
              <a:rPr>
                <a:latin typeface="Courier"/>
              </a:rPr>
              <a:t>cell_id</a:t>
            </a:r>
            <a:r>
              <a:rPr/>
              <a:t> etc.) precisou passar a vir do ConfigMap — antes estava </a:t>
            </a:r>
            <a:r>
              <a:rPr i="1"/>
              <a:t>hardcoded</a:t>
            </a:r>
            <a:r>
              <a:rPr/>
              <a:t> no código da NF, e não havia nada real para sincronizar</a:t>
            </a:r>
          </a:p>
        </p:txBody>
      </p:sp>
      <p:pic>
        <p:nvPicPr>
          <p:cNvPr descr="assets/term-configbridge-drift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1104900"/>
            <a:ext cx="5105400" cy="2057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Round-trip real: PUT /config contornando o GitOps → drift detectado → commit → CFG_CELL_ID=7 confirmado no cluster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Melhoria 4 — rapp-autoscale (Non-RT RIC / SMO)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Poller Python (não um operador </a:t>
            </a:r>
            <a:r>
              <a:rPr>
                <a:latin typeface="Courier"/>
              </a:rPr>
              <a:t>kopf</a:t>
            </a:r>
            <a:r>
              <a:rPr/>
              <a:t> — o estado observado não é um recurso do Kubernetes) que lê a taxa de requisições de </a:t>
            </a:r>
            <a:r>
              <a:rPr>
                <a:latin typeface="Courier"/>
              </a:rPr>
              <a:t>/metrics</a:t>
            </a:r>
            <a:r>
              <a:rPr/>
              <a:t> a cada </a:t>
            </a:r>
            <a:r>
              <a:rPr b="1"/>
              <a:t>30 s</a:t>
            </a:r>
          </a:p>
          <a:p>
            <a:pPr lvl="0"/>
            <a:r>
              <a:rPr/>
              <a:t>Deliberadamente </a:t>
            </a:r>
            <a:r>
              <a:rPr b="1"/>
              <a:t>não-tempo-real</a:t>
            </a:r>
            <a:r>
              <a:rPr/>
              <a:t> — O-RAN define rApp como &gt;1 s, xApp como 10 ms–1 s; o próprio intervalo marca essa distinção na prática</a:t>
            </a:r>
          </a:p>
          <a:p>
            <a:pPr lvl="0"/>
            <a:r>
              <a:rPr/>
              <a:t>Política: </a:t>
            </a:r>
            <a:r>
              <a:rPr>
                <a:latin typeface="Courier"/>
              </a:rPr>
              <a:t>rate &gt; 1,0 req/s</a:t>
            </a:r>
            <a:r>
              <a:rPr/>
              <a:t> → escala pra cima; </a:t>
            </a:r>
            <a:r>
              <a:rPr>
                <a:latin typeface="Courier"/>
              </a:rPr>
              <a:t>rate &lt; 0,1 req/s</a:t>
            </a:r>
            <a:r>
              <a:rPr/>
              <a:t> → escala pra baixo</a:t>
            </a:r>
          </a:p>
          <a:p>
            <a:pPr lvl="0"/>
            <a:r>
              <a:rPr/>
              <a:t>Ação executada via PATCH direto no </a:t>
            </a:r>
            <a:r>
              <a:rPr>
                <a:latin typeface="Courier"/>
              </a:rPr>
              <a:t>/scale</a:t>
            </a:r>
            <a:r>
              <a:rPr/>
              <a:t> — simplificação documentada (não publica uma policy A1, porque não há Near-RT RIC real neste laboratório)</a:t>
            </a:r>
          </a:p>
        </p:txBody>
      </p:sp>
      <p:pic>
        <p:nvPicPr>
          <p:cNvPr descr="assets/term-rapp-decision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1181100"/>
            <a:ext cx="5105400" cy="193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Decisão real do rApp: rate=10.27 req/s dispara scale-up 1→2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Achado real — conflito GitOps × controle imperativo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 PATCH </a:t>
            </a:r>
            <a:r>
              <a:rPr>
                <a:latin typeface="Courier"/>
              </a:rPr>
              <a:t>/scale</a:t>
            </a:r>
            <a:r>
              <a:rPr/>
              <a:t> aplicava </a:t>
            </a:r>
            <a:r>
              <a:rPr>
                <a:latin typeface="Courier"/>
              </a:rPr>
              <a:t>replicas:2</a:t>
            </a:r>
            <a:r>
              <a:rPr/>
              <a:t> com sucesso (</a:t>
            </a:r>
            <a:r>
              <a:rPr>
                <a:latin typeface="Courier"/>
              </a:rPr>
              <a:t>200</a:t>
            </a:r>
            <a:r>
              <a:rPr/>
              <a:t>) — mas a réplica </a:t>
            </a:r>
            <a:r>
              <a:rPr b="1"/>
              <a:t>voltava pra 1</a:t>
            </a:r>
            <a:r>
              <a:rPr/>
              <a:t> segundos depois</a:t>
            </a:r>
          </a:p>
          <a:p>
            <a:pPr lvl="0"/>
            <a:r>
              <a:rPr b="1"/>
              <a:t>Causa raiz:</a:t>
            </a:r>
            <a:r>
              <a:rPr/>
              <a:t> o pacote no Git ainda declarava </a:t>
            </a:r>
            <a:r>
              <a:rPr>
                <a:latin typeface="Courier"/>
              </a:rPr>
              <a:t>replicas: 1</a:t>
            </a:r>
            <a:r>
              <a:rPr/>
              <a:t>, e o RootSync contínuo (Melhoria 2) reconciliava de volta a cada ciclo — duas autoridades de orquestração competindo pelo mesmo campo</a:t>
            </a:r>
          </a:p>
          <a:p>
            <a:pPr lvl="0"/>
            <a:r>
              <a:rPr b="1"/>
              <a:t>Correção:</a:t>
            </a:r>
            <a:r>
              <a:rPr/>
              <a:t> campo </a:t>
            </a:r>
            <a:r>
              <a:rPr>
                <a:latin typeface="Courier"/>
              </a:rPr>
              <a:t>replicas</a:t>
            </a:r>
            <a:r>
              <a:rPr/>
              <a:t> removido do pacote — como </a:t>
            </a:r>
            <a:r>
              <a:rPr>
                <a:latin typeface="Courier"/>
              </a:rPr>
              <a:t>kpt live apply</a:t>
            </a:r>
            <a:r>
              <a:rPr/>
              <a:t> e o Config Sync usam </a:t>
            </a:r>
            <a:r>
              <a:rPr i="1"/>
              <a:t>server-side apply</a:t>
            </a:r>
            <a:r>
              <a:rPr/>
              <a:t>, nenhum dos dois reivindica o campo quando ausente</a:t>
            </a:r>
          </a:p>
          <a:p>
            <a:pPr lvl="0"/>
            <a:r>
              <a:rPr/>
              <a:t>Mesmo padrão usado na vida real quando um </a:t>
            </a:r>
            <a:r>
              <a:rPr b="1"/>
              <a:t>HPA coexiste com GitOps</a:t>
            </a:r>
            <a:r>
              <a:rPr/>
              <a:t> (Argo CD chama isso de </a:t>
            </a:r>
            <a:r>
              <a:rPr>
                <a:latin typeface="Courier"/>
              </a:rPr>
              <a:t>ignoreDifferences</a:t>
            </a:r>
            <a:r>
              <a:rPr/>
              <a:t>)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Status honesto e uso de RAM final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Reverificação final do rApp (confirmar que o scale-up permanece estável após a correção) </a:t>
            </a:r>
            <a:r>
              <a:rPr b="1"/>
              <a:t>não foi concluída</a:t>
            </a:r>
            <a:r>
              <a:rPr/>
              <a:t> — o ambiente WSL2/Docker sofreu suspensões repetidas do host durante os testes finais desta sessão (containers de ambos os clusters caindo simultaneamente)</a:t>
            </a:r>
          </a:p>
          <a:p>
            <a:pPr lvl="0"/>
            <a:r>
              <a:rPr b="1"/>
              <a:t>Nenhuma evidência foi forjada</a:t>
            </a:r>
            <a:r>
              <a:rPr/>
              <a:t> para cobrir essa lacuna — registrado com todas as letras, reproduzível via </a:t>
            </a:r>
            <a:r>
              <a:rPr>
                <a:latin typeface="Courier"/>
              </a:rPr>
              <a:t>scripts/13-rapp-autoscale.sh</a:t>
            </a:r>
            <a:r>
              <a:rPr/>
              <a:t> + </a:t>
            </a:r>
            <a:r>
              <a:rPr>
                <a:latin typeface="Courier"/>
              </a:rPr>
              <a:t>scripts/14-rapp-load-test.sh</a:t>
            </a:r>
          </a:p>
        </p:txBody>
      </p:sp>
      <p:pic>
        <p:nvPicPr>
          <p:cNvPr descr="assets/ram-usag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825500"/>
            <a:ext cx="5105400" cy="264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Uso real de RAM: todas as 4 melhorias somadas cabem folgado no orçamento do WSL2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 que foi implementado × o que ficou de fora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Implementado e evidenciado:</a:t>
            </a:r>
            <a:r>
              <a:rPr/>
              <a:t> provisioning (O2 IMS + Porch/kpt), lifecycle Kubernetes completo (6 experimentos), GitOps contínuo, monitoramento real, sincronização </a:t>
            </a:r>
            <a:r>
              <a:rPr>
                <a:latin typeface="Courier"/>
              </a:rPr>
              <a:t>/config</a:t>
            </a:r>
            <a:r>
              <a:rPr/>
              <a:t> → pacote (parcial), uma primeira função de Non-RT RIC/rApp</a:t>
            </a:r>
          </a:p>
          <a:p>
            <a:pPr lvl="0"/>
            <a:r>
              <a:rPr b="1"/>
              <a:t>Ficou de fora, deliberadamente:</a:t>
            </a:r>
            <a:r>
              <a:rPr/>
              <a:t> O1 (FCAPS via NETCONF/YANG), xApp/E2/Near-RT RIC, NF O-RAN real, federação FOCOM com SMO externo, telemetria O-RAN nativa (VES/PM Jobs)</a:t>
            </a:r>
          </a:p>
          <a:p>
            <a:pPr lvl="0"/>
            <a:r>
              <a:rPr b="1"/>
              <a:t>11 bugs de engenharia reais</a:t>
            </a:r>
            <a:r>
              <a:rPr/>
              <a:t> encontrados e corrigidos ao longo de toda a Parte 2 — nenhum escondido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Nephio orquestrou o ciclo de vida completo de CNFs cloud-native — provisionamento, configuração, escala, atualização, recuperação e terminação — usando seus mecanismos nativos, não apenas </a:t>
            </a:r>
            <a:r>
              <a:rPr>
                <a:latin typeface="Courier"/>
              </a:rPr>
              <a:t>kubectl apply</a:t>
            </a:r>
          </a:p>
          <a:p>
            <a:pPr lvl="0"/>
            <a:r>
              <a:rPr/>
              <a:t>As 4 melhorias pós-entrega evoluíram o laboratório de GitOps sob demanda para GitOps contínuo, monitoramento real, e uma primeira função de Non-RT RIC funcional</a:t>
            </a:r>
          </a:p>
          <a:p>
            <a:pPr lvl="0"/>
            <a:r>
              <a:rPr/>
              <a:t>O que é abstração: as NFs, o O-Cloud, a federação FOCOM, o xApp (deliberadamente não simulado)</a:t>
            </a:r>
          </a:p>
          <a:p>
            <a:pPr lvl="0"/>
            <a:r>
              <a:rPr/>
              <a:t>O que é real: Porch/kpt/RootSync, provisionamento O2 IMS, e agora monitoramento + um rApp funcional (com um achado genuíno sobre orquestração distribuída)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2026-09-25T13:10:40Z</dcterms:created>
  <dcterms:modified xsi:type="dcterms:W3CDTF">2026-09-25T13:10:40Z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