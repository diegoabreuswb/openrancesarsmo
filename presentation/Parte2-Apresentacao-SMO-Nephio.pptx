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 Parte 1 caracterizei teoricamente o que o Nephio faz e não faz frente à especificação de SMO da O-RAN Alliance. Esta Parte 2 existe para provar isso na prática — cada afirmação que vou fazer aqui tem um comando, uma saída real e um arquivo de evidência por trás, não é só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Essa distinção dos quatro ciclos de vida é o fio condutor de todo o trabalho. Vou repetir isso várias vezes ao longo da apresentação porque é fácil confundir “o Kubernetes reconciliou o pod” com “a NF se curou” — são coisas completamente diferentes, e misturar as duas é exatamente o tipo de exagero que este trabalho existe para evitar.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Repito essa frase porque é a âncora de tudo. Cada experimento que vou mostrar valida ou contesta uma linha específica dessa tabela função-por-função da Parte 1 — não escolhi os experimentos ao acaso.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Cada uma dessas escolhas foi uma decisão de orçamento de RAM. O instalador oficial do Nephio sozinho já estouraria os 16 GB se eu tivesse usado a distribuição completa — por isso instalei pacote a pacote, só o mínimo necessário para provar o mecanismo.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Três camadas, cada uma com um mecanismo de orquestração diferente — infraestrutura via O2 IMS, entrega de NF via GitOps contínuo, e operação via três componentes que consomem essas mesmas APIs. Vou percorrer as três ao longo da apresentação, com experimento e evidência para cada 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Nenhuma dessas ferramentas é exclusiva de telecom — é exatamente esse o ponto da Parte 1: o núcleo do Nephio é agnóstico, e se conecta ao mundo O-RAN só através de operadores específicos.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 direto aqui: se alguém perguntar “isso é um O-CU de verdade?”, a resposta é não. É um serviço HTTP com o nome de um O-CU, para eu poder demonstrar scale/update/recover/terminate sobre algo que se parece com uma NF, sem pagar o custo de RAM de uma pilha 5G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Isso não foi preguiça — foi uma decisão de engenharia documentada com números reais de requisito de RAM de cada alternativa. Se tivesse uma segunda máquina dedicada, o caminho sugerido seria validar primeiro o onboarding do pacote do free5GC com réplicas em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Esse não é um kubectl apply disfarçado. É um pacote versionado, com Draft, Proposed e Published — o mesmo mecanismo que o Nephio usaria em produção para qualquer coisa.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Dez recursos aplicados (namespace, 3 ConfigMaps, 3 Services, 3 Deployments) — todos de uma vez, via um único pacote reconciliado declarativamente.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Misturar essas duas camadas seria o tipo de exagero que quero evitar. Uma é gerência de elemento de rede (o que seria O1); a outra é GitOps de infraestrutura — mecanismos diferentes, propósitos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Rápido e direto — mas o ponto não é a velocidade, é a distinção: essa mudança fica só na API da NF, não propaga pro pacote sozinha (isso é fechado mais adiante, pelo config-bridge).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Aqui uso deliberadamente o kubectl imperativo, para comparar mais adiante com o rApp — o mesmo scale, só que decidido automaticamente por uma política, a partir de telemetria.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Esse foi um dos experimentos mais instrutivos. Bati de frente com um comportamento real e documentado do Kubernetes, diagnostiquei com evidência e corrigi — não escondi que falhou na primeira tentativa.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Deixo claro sempre: “recuperação” aqui é o controller do Kubernetes fazendo seu trabalho normal, não uma função de FCAPS-F O-RAN. É uma distinção pequena no slide, mas grande na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Fecha o primeiro bloco: instantiate, config, scale, upgrade, recover, terminate — todos pelo fluxo real do Nephio, com evidência de cada um. Agora vou pra camada de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Esse gráfico mostra os 10 experimentos juntos — dá pra comparar a ordem de grandeza de cada operação de relance, da configuração mais rápida (0,7s) até o ciclo de decisão do rApp (30s).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Métrica real por nó e por pod, sem pagar o custo de um Prometheus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Publiquei a mudança e cronometrei quanto tempo até ela aparecer sozinha no cluster, sem eu chamar kpt live apply manualmente — essa é a diferença entre “o RootSync está instalado” e “o RootSync funciona de verdade”.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Achei e corrigi um bug real nessa: o YAML sem aspas fazia “00101” virar o inteiro 101 na releitura — um padrão octal-like do YAML 1.1 — causando um loop de auto-correção a cada 15s. Corrigi forçando aspas em todo escalar, do mesmo jeito que o Kubernetes já trata ConfigMaps.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300 requisições de carga em 5,99s elevaram a taxa a 10,27 req/s — o rApp detectou isso no próximo ciclo de 30s e aplicou o scale-up sozinho, exatamente como um controller de capacidade não-tempo-real faria.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Esse foi o achado mais valioso de toda a Parte 2, na minha opinião — não é um bug de código, é um comportamento real e documentado de sistemas distribuídos: quando duas fontes de verdade tentam controlar o mesmo recurso, uma vai vencer, e é preciso decidir explicitamente 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Essa foi uma decisão consciente, não uma limitação de tempo. Prefiro entregar um rApp simples mas 100% real a um xApp que fingisse falar E2 com um Near-RT RIC que não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laboratório inteiro — management, O-Cloud, as 3 CNFs, Porch, Gitea, Cluster API, monitoramento e o rApp — coube com folga real, medida, dentro do orçamento de 16 GB da máquina.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Esse slide é o resumo que eu daria se só tivesse 30 segundos: o que funciona de verdade, o que não funciona e por quê, e quantas vezes as coisas quebraram e foram consertadas de verdade no caminho.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Entre teoria (Parte 1) e prática (Parte 2), a mesma conclusão se sustenta: o Nephio é uma plataforma de automação cloud-native real, que implementa um subconjunto bem definido — e demonstrado, com evidência — das funções associadas ao SMO.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Relationship Id="rId4" Type="http://schemas.openxmlformats.org/officeDocument/2006/relationships/image" Target="../media/image5.png" /><Relationship Id="rId3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8.xml" /><Relationship Id="rId3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0.xml" /><Relationship Id="rId3" Type="http://schemas.openxmlformats.org/officeDocument/2006/relationships/image" Target="../media/image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Relationship Id="rId3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Provisionamento e gerenciamento prático de uma pilha Open RAN com Nephio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Parte 2 (70%) — disciplina de redes Open RAN, Curso CESAR</a:t>
            </a:r>
          </a:p>
          <a:p>
            <a:pPr lvl="0"/>
            <a:r>
              <a:rPr/>
              <a:t>Usar o Nephio, na prática, para provisionar e gerenciar uma pilha Open RAN </a:t>
            </a:r>
            <a:r>
              <a:rPr b="1"/>
              <a:t>simulada</a:t>
            </a:r>
          </a:p>
          <a:p>
            <a:pPr lvl="0"/>
            <a:r>
              <a:rPr/>
              <a:t>3 Network Functions representativas: </a:t>
            </a:r>
            <a:r>
              <a:rPr>
                <a:latin typeface="Courier"/>
              </a:rPr>
              <a:t>oran-cu</a:t>
            </a:r>
            <a:r>
              <a:rPr/>
              <a:t>, </a:t>
            </a:r>
            <a:r>
              <a:rPr>
                <a:latin typeface="Courier"/>
              </a:rPr>
              <a:t>oran-du</a:t>
            </a:r>
            <a:r>
              <a:rPr/>
              <a:t>, </a:t>
            </a:r>
            <a:r>
              <a:rPr>
                <a:latin typeface="Courier"/>
              </a:rPr>
              <a:t>oran-core</a:t>
            </a:r>
            <a:r>
              <a:rPr/>
              <a:t>, sobre um O-Cloud provisionado pelo próprio Nephio (Parte 1)</a:t>
            </a:r>
          </a:p>
          <a:p>
            <a:pPr lvl="0"/>
            <a:r>
              <a:rPr/>
              <a:t>Autor: Diego Abreu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Objetivo desta Parte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Demonstrar, com </a:t>
            </a:r>
            <a:r>
              <a:rPr b="1"/>
              <a:t>evidência mensurável</a:t>
            </a:r>
            <a:r>
              <a:rPr/>
              <a:t> (tempo, RAM, CPU), os mecanismos centrais de SMO/orquestração: </a:t>
            </a:r>
            <a:r>
              <a:rPr b="1"/>
              <a:t>provisioning, configuration management, orchestration, monitoring, lifecycle management</a:t>
            </a:r>
            <a:r>
              <a:rPr/>
              <a:t> e uma primeira função de </a:t>
            </a:r>
            <a:r>
              <a:rPr b="1"/>
              <a:t>Non-RT RIC</a:t>
            </a:r>
          </a:p>
          <a:p>
            <a:pPr lvl="0"/>
            <a:r>
              <a:rPr/>
              <a:t>Não é um roteiro “follow-along” — é um experimento real, com bugs reais encontrados e corrigidos ao vivo, documentados em vez de escondidos</a:t>
            </a:r>
          </a:p>
          <a:p>
            <a:pPr lvl="0"/>
            <a:r>
              <a:rPr/>
              <a:t>Critério de sucesso: cada operação tem que sair de um comando real, não de uma afirmação</a:t>
            </a:r>
          </a:p>
          <a:p>
            <a:pPr lvl="0"/>
            <a:r>
              <a:rPr/>
              <a:t>Distinguir o tempo todo </a:t>
            </a:r>
            <a:r>
              <a:rPr b="1"/>
              <a:t>4 “ciclos de vida” diferentes</a:t>
            </a:r>
            <a:r>
              <a:rPr/>
              <a:t>: Kubernetes, Nephio/orquestração, O2 IMS, e NF O-RAN real (este último — nunca demonstrado, e digo isso com todas as letras)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Recapitulando a tese da Parte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“Nephio is a cloud-native automation and orchestration platform that can implement or support functions associated with the SMO and O-Cloud management architecture.”</a:t>
            </a:r>
          </a:p>
          <a:p>
            <a:pPr lvl="0"/>
            <a:r>
              <a:rPr/>
              <a:t>Nephio </a:t>
            </a:r>
            <a:r>
              <a:rPr b="1"/>
              <a:t>não é</a:t>
            </a:r>
            <a:r>
              <a:rPr/>
              <a:t> o SMO oficial da especificação O-RAN — é uma plataforma de automação cloud-native que implementa </a:t>
            </a:r>
            <a:r>
              <a:rPr b="1"/>
              <a:t>partes</a:t>
            </a:r>
            <a:r>
              <a:rPr/>
              <a:t> das funções do SMO</a:t>
            </a:r>
          </a:p>
          <a:p>
            <a:pPr lvl="0"/>
            <a:r>
              <a:rPr/>
              <a:t>Forte em: provisioning de infraestrutura (O2 IMS), lifecycle de deployment Kubernetes</a:t>
            </a:r>
          </a:p>
          <a:p>
            <a:pPr lvl="0"/>
            <a:r>
              <a:rPr/>
              <a:t>Fraco/ausente em: O1 (FCAPS via NETCONF/YANG), Non-RT RIC/A1 como plataforma, telemetria O-RAN nativa</a:t>
            </a:r>
          </a:p>
          <a:p>
            <a:pPr lvl="0"/>
            <a:r>
              <a:rPr/>
              <a:t>Esta Parte 2 usa exatamente essa caracterização como roteiro dos experimentos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Ambiente e por que essas escolhas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Windows 11 + WSL2 Ubuntu, Docker Engine </a:t>
            </a:r>
            <a:r>
              <a:rPr b="1"/>
              <a:t>nativo</a:t>
            </a:r>
            <a:r>
              <a:rPr/>
              <a:t> no WSL2 (não Docker Desktop) — menor overhead</a:t>
            </a:r>
          </a:p>
          <a:p>
            <a:pPr lvl="0"/>
            <a:r>
              <a:rPr/>
              <a:t>Nephio R6 (</a:t>
            </a:r>
            <a:r>
              <a:rPr>
                <a:latin typeface="Courier"/>
              </a:rPr>
              <a:t>v6.0.0</a:t>
            </a:r>
            <a:r>
              <a:rPr/>
              <a:t>), instalado pacote-a-pacote via </a:t>
            </a:r>
            <a:r>
              <a:rPr>
                <a:latin typeface="Courier"/>
              </a:rPr>
              <a:t>kpt</a:t>
            </a:r>
            <a:r>
              <a:rPr/>
              <a:t> — não o instalador Ansible do sandbox (que traz Argo CD + Flux + WebUI completos, inviável em 16 GB)</a:t>
            </a:r>
          </a:p>
          <a:p>
            <a:pPr lvl="0"/>
            <a:r>
              <a:rPr>
                <a:latin typeface="Courier"/>
              </a:rPr>
              <a:t>.wslconfig</a:t>
            </a:r>
            <a:r>
              <a:rPr/>
              <a:t>: teto de </a:t>
            </a:r>
            <a:r>
              <a:rPr b="1"/>
              <a:t>9,7 GB</a:t>
            </a:r>
            <a:r>
              <a:rPr/>
              <a:t> para todo o laboratório, dentro de uma máquina de 16 GB</a:t>
            </a:r>
          </a:p>
          <a:p>
            <a:pPr lvl="0"/>
            <a:r>
              <a:rPr/>
              <a:t>100% local — sem cloud paga, sem OpenStack, sem cluster K8s externo</a:t>
            </a:r>
          </a:p>
          <a:p>
            <a:pPr lvl="0"/>
            <a:r>
              <a:rPr/>
              <a:t>kind (Kubernetes-in-Docker) para os dois clusters — leve, sem VM pesada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Arquitetura — as três camadas</a:t>
            </a:r>
          </a:p>
        </p:txBody>
      </p:sp>
      <p:pic>
        <p:nvPicPr>
          <p:cNvPr descr="assets/architecture-fin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73400" y="1193800"/>
            <a:ext cx="2997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Arquitetura completa: infraestrutura (O2 IMS), entrega de NF (Porch + RootSync contínuo) e operação (metrics-server, config-bridge, rapp-autoscale)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Camada 1 (infraestrutura):</a:t>
            </a:r>
            <a:r>
              <a:rPr/>
              <a:t> </a:t>
            </a:r>
            <a:r>
              <a:rPr>
                <a:latin typeface="Courier"/>
              </a:rPr>
              <a:t>ProvisioningRequest</a:t>
            </a:r>
            <a:r>
              <a:rPr/>
              <a:t> → </a:t>
            </a:r>
            <a:r>
              <a:rPr>
                <a:latin typeface="Courier"/>
              </a:rPr>
              <a:t>o2ims-operator</a:t>
            </a:r>
            <a:r>
              <a:rPr/>
              <a:t> → Cluster API/CAPD → </a:t>
            </a:r>
            <a:r>
              <a:rPr>
                <a:latin typeface="Courier"/>
              </a:rPr>
              <a:t>o-cloud-1</a:t>
            </a:r>
            <a:r>
              <a:rPr/>
              <a:t> — o </a:t>
            </a:r>
            <a:r>
              <a:rPr>
                <a:latin typeface="Courier"/>
              </a:rPr>
              <a:t>o-cloud-1</a:t>
            </a:r>
            <a:r>
              <a:rPr/>
              <a:t> foi </a:t>
            </a:r>
            <a:r>
              <a:rPr b="1"/>
              <a:t>provisionado pelo próprio Nephio</a:t>
            </a:r>
            <a:r>
              <a:rPr/>
              <a:t>, não um </a:t>
            </a:r>
            <a:r>
              <a:rPr>
                <a:latin typeface="Courier"/>
              </a:rPr>
              <a:t>kind create</a:t>
            </a:r>
            <a:r>
              <a:rPr/>
              <a:t> manual</a:t>
            </a:r>
          </a:p>
          <a:p>
            <a:pPr lvl="0"/>
            <a:r>
              <a:rPr b="1"/>
              <a:t>Camada 2 (NFs):</a:t>
            </a:r>
            <a:r>
              <a:rPr/>
              <a:t> pacote kpt → Porch → </a:t>
            </a:r>
            <a:r>
              <a:rPr>
                <a:latin typeface="Courier"/>
              </a:rPr>
              <a:t>RootSync</a:t>
            </a:r>
            <a:r>
              <a:rPr/>
              <a:t> contínuo → </a:t>
            </a:r>
            <a:r>
              <a:rPr>
                <a:latin typeface="Courier"/>
              </a:rPr>
              <a:t>oran-cu/du/core</a:t>
            </a:r>
          </a:p>
          <a:p>
            <a:pPr lvl="0"/>
            <a:r>
              <a:rPr b="1"/>
              <a:t>Camada 3 (operação):</a:t>
            </a:r>
            <a:r>
              <a:rPr/>
              <a:t> </a:t>
            </a:r>
            <a:r>
              <a:rPr>
                <a:latin typeface="Courier"/>
              </a:rPr>
              <a:t>metrics-server</a:t>
            </a:r>
            <a:r>
              <a:rPr/>
              <a:t>, </a:t>
            </a:r>
            <a:r>
              <a:rPr>
                <a:latin typeface="Courier"/>
              </a:rPr>
              <a:t>config-bridge</a:t>
            </a:r>
            <a:r>
              <a:rPr/>
              <a:t> e </a:t>
            </a:r>
            <a:r>
              <a:rPr>
                <a:latin typeface="Courier"/>
              </a:rPr>
              <a:t>rapp-autoscale</a:t>
            </a:r>
            <a:r>
              <a:rPr/>
              <a:t> rodam dentro do </a:t>
            </a:r>
            <a:r>
              <a:rPr>
                <a:latin typeface="Courier"/>
              </a:rPr>
              <a:t>o-cloud-1</a:t>
            </a:r>
            <a:r>
              <a:rPr/>
              <a:t>, consumindo as mesmas APIs que as camadas 1 e 2 já expõem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Ferramentas e o papel de cada uma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kpt</a:t>
            </a:r>
            <a:r>
              <a:rPr/>
              <a:t> — autoria do pacote, pipeline de funções, inventário declarativo (</a:t>
            </a:r>
            <a:r>
              <a:rPr>
                <a:latin typeface="Courier"/>
              </a:rPr>
              <a:t>ResourceGroup</a:t>
            </a:r>
            <a:r>
              <a:rPr/>
              <a:t>)</a:t>
            </a:r>
          </a:p>
          <a:p>
            <a:pPr lvl="0"/>
            <a:r>
              <a:rPr b="1"/>
              <a:t>Porch / </a:t>
            </a:r>
            <a:r>
              <a:rPr b="1">
                <a:latin typeface="Courier"/>
              </a:rPr>
              <a:t>porchctl</a:t>
            </a:r>
            <a:r>
              <a:rPr/>
              <a:t> — ciclo de vida do pacote: Draft → Proposed → Published</a:t>
            </a:r>
          </a:p>
          <a:p>
            <a:pPr lvl="0"/>
            <a:r>
              <a:rPr b="1"/>
              <a:t>Config Sync / </a:t>
            </a:r>
            <a:r>
              <a:rPr b="1">
                <a:latin typeface="Courier"/>
              </a:rPr>
              <a:t>RootSync</a:t>
            </a:r>
            <a:r>
              <a:rPr/>
              <a:t> — reconciliação GitOps contínua do repositório </a:t>
            </a:r>
            <a:r>
              <a:rPr>
                <a:latin typeface="Courier"/>
              </a:rPr>
              <a:t>openran-cnfs</a:t>
            </a:r>
          </a:p>
          <a:p>
            <a:pPr lvl="0"/>
            <a:r>
              <a:rPr b="1"/>
              <a:t>kind + Cluster API + CAPD</a:t>
            </a:r>
            <a:r>
              <a:rPr/>
              <a:t> — criação do </a:t>
            </a:r>
            <a:r>
              <a:rPr>
                <a:latin typeface="Courier"/>
              </a:rPr>
              <a:t>o-cloud-1</a:t>
            </a:r>
            <a:r>
              <a:rPr/>
              <a:t> via O2 IMS</a:t>
            </a:r>
          </a:p>
          <a:p>
            <a:pPr lvl="0"/>
            <a:r>
              <a:rPr b="1"/>
              <a:t>metrics-server</a:t>
            </a:r>
            <a:r>
              <a:rPr/>
              <a:t> — métricas reais de CPU/RAM por nó e por pod</a:t>
            </a:r>
          </a:p>
          <a:p>
            <a:pPr lvl="0"/>
            <a:r>
              <a:rPr b="1"/>
              <a:t>kubectl</a:t>
            </a:r>
            <a:r>
              <a:rPr/>
              <a:t> — operações imperativas de comparação (scale, delete pod) e validação</a:t>
            </a:r>
          </a:p>
          <a:p>
            <a:pPr lvl="0"/>
            <a:r>
              <a:rPr b="1"/>
              <a:t>FastAPI/Python + Docker</a:t>
            </a:r>
            <a:r>
              <a:rPr/>
              <a:t> — as 3 CNFs simuladas, o </a:t>
            </a:r>
            <a:r>
              <a:rPr>
                <a:latin typeface="Courier"/>
              </a:rPr>
              <a:t>config-bridge</a:t>
            </a:r>
            <a:r>
              <a:rPr/>
              <a:t> e o </a:t>
            </a:r>
            <a:r>
              <a:rPr>
                <a:latin typeface="Courier"/>
              </a:rPr>
              <a:t>rapp-autoscale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Network Functions simuladas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oran-cu</a:t>
            </a:r>
            <a:r>
              <a:rPr/>
              <a:t>, </a:t>
            </a:r>
            <a:r>
              <a:rPr>
                <a:latin typeface="Courier"/>
              </a:rPr>
              <a:t>oran-du</a:t>
            </a:r>
            <a:r>
              <a:rPr/>
              <a:t>, </a:t>
            </a:r>
            <a:r>
              <a:rPr>
                <a:latin typeface="Courier"/>
              </a:rPr>
              <a:t>oran-core</a:t>
            </a:r>
            <a:r>
              <a:rPr/>
              <a:t> — serviços FastAPI, ~30–50 MiB de RAM cada</a:t>
            </a:r>
          </a:p>
          <a:p>
            <a:pPr lvl="0"/>
            <a:r>
              <a:rPr/>
              <a:t>Cada uma expõe </a:t>
            </a:r>
            <a:r>
              <a:rPr>
                <a:latin typeface="Courier"/>
              </a:rPr>
              <a:t>/health</a:t>
            </a:r>
            <a:r>
              <a:rPr/>
              <a:t>, </a:t>
            </a:r>
            <a:r>
              <a:rPr>
                <a:latin typeface="Courier"/>
              </a:rPr>
              <a:t>/config</a:t>
            </a:r>
            <a:r>
              <a:rPr/>
              <a:t> (GET/PUT/POST), </a:t>
            </a:r>
            <a:r>
              <a:rPr>
                <a:latin typeface="Courier"/>
              </a:rPr>
              <a:t>/metrics</a:t>
            </a:r>
            <a:r>
              <a:rPr/>
              <a:t> (formato Prometheus)</a:t>
            </a:r>
          </a:p>
          <a:p>
            <a:pPr lvl="0"/>
            <a:r>
              <a:rPr/>
              <a:t>A config de domínio de </a:t>
            </a:r>
            <a:r>
              <a:rPr>
                <a:latin typeface="Courier"/>
              </a:rPr>
              <a:t>oran-du</a:t>
            </a:r>
            <a:r>
              <a:rPr/>
              <a:t> (</a:t>
            </a:r>
            <a:r>
              <a:rPr>
                <a:latin typeface="Courier"/>
              </a:rPr>
              <a:t>plmn_id</a:t>
            </a:r>
            <a:r>
              <a:rPr/>
              <a:t>, </a:t>
            </a:r>
            <a:r>
              <a:rPr>
                <a:latin typeface="Courier"/>
              </a:rPr>
              <a:t>cell_id</a:t>
            </a:r>
            <a:r>
              <a:rPr/>
              <a:t>, </a:t>
            </a:r>
            <a:r>
              <a:rPr>
                <a:latin typeface="Courier"/>
              </a:rPr>
              <a:t>tx_power_dbm</a:t>
            </a:r>
            <a:r>
              <a:rPr/>
              <a:t>, </a:t>
            </a:r>
            <a:r>
              <a:rPr>
                <a:latin typeface="Courier"/>
              </a:rPr>
              <a:t>du_id</a:t>
            </a:r>
            <a:r>
              <a:rPr/>
              <a:t>) vem do </a:t>
            </a:r>
            <a:r>
              <a:rPr>
                <a:latin typeface="Courier"/>
              </a:rPr>
              <a:t>ConfigMap</a:t>
            </a:r>
            <a:r>
              <a:rPr/>
              <a:t> do pacote — é o que permite ao </a:t>
            </a:r>
            <a:r>
              <a:rPr>
                <a:latin typeface="Courier"/>
              </a:rPr>
              <a:t>config-bridge</a:t>
            </a:r>
            <a:r>
              <a:rPr/>
              <a:t> saber qual é o estado publicado</a:t>
            </a:r>
          </a:p>
          <a:p>
            <a:pPr lvl="0"/>
            <a:r>
              <a:rPr b="1"/>
              <a:t>Workloads representativos — não NFs O-RAN reais</a:t>
            </a:r>
            <a:r>
              <a:rPr/>
              <a:t>: sem protocolos de rádio, sem planos de usuário/controle, sem interfaces F1/E1/E2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não usei uma NF real (avaliação feita)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Avaliei 3 alternativas: </a:t>
            </a:r>
            <a:r>
              <a:rPr b="1"/>
              <a:t>UERANSIM</a:t>
            </a:r>
            <a:r>
              <a:rPr/>
              <a:t>, </a:t>
            </a:r>
            <a:r>
              <a:rPr b="1"/>
              <a:t>free5GC</a:t>
            </a:r>
            <a:r>
              <a:rPr/>
              <a:t>, </a:t>
            </a:r>
            <a:r>
              <a:rPr b="1"/>
              <a:t>OpenAirInterface</a:t>
            </a:r>
          </a:p>
          <a:p>
            <a:pPr lvl="0"/>
            <a:r>
              <a:rPr/>
              <a:t>UERANSIM sozinho: ~2 GB/2 CPU — mas não funciona sem um AMF real por trás</a:t>
            </a:r>
          </a:p>
          <a:p>
            <a:pPr lvl="0"/>
            <a:r>
              <a:rPr/>
              <a:t>free5GC completo: 4 GB mínimo / 8 GB recomendado — </a:t>
            </a:r>
            <a:r>
              <a:rPr b="1"/>
              <a:t>sozinho já consome quase todo o orçamento restante</a:t>
            </a:r>
          </a:p>
          <a:p>
            <a:pPr lvl="0"/>
            <a:r>
              <a:rPr/>
              <a:t>OpenAirInterface: footprint imprevisível, maior complexidade — e o próprio enunciado pediu para não instalar</a:t>
            </a:r>
          </a:p>
          <a:p>
            <a:pPr lvl="0"/>
            <a:r>
              <a:rPr b="1"/>
              <a:t>Decisão:</a:t>
            </a:r>
            <a:r>
              <a:rPr/>
              <a:t> nenhuma NF real cabia ao lado do Nephio completo em 16 GB — documentado, não simplesmente omitido (</a:t>
            </a:r>
            <a:r>
              <a:rPr>
                <a:latin typeface="Courier"/>
              </a:rPr>
              <a:t>docs/real-nf-extension.md</a:t>
            </a:r>
            <a:r>
              <a:rPr/>
              <a:t>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Fluxo de provisionamento das NFs — conceito</a:t>
            </a:r>
          </a:p>
        </p:txBody>
      </p:sp>
      <p:pic>
        <p:nvPicPr>
          <p:cNvPr descr="assets/provisioning-flow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216400" y="1193800"/>
            <a:ext cx="711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Intent (pacote kpt autoral) → Package (Draft) → Repository (Published) → Reconciliation → Kubernetes → CNF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NFs chegam ao </a:t>
            </a:r>
            <a:r>
              <a:rPr>
                <a:latin typeface="Courier"/>
              </a:rPr>
              <a:t>o-cloud-1</a:t>
            </a:r>
            <a:r>
              <a:rPr/>
              <a:t> por um </a:t>
            </a:r>
            <a:r>
              <a:rPr b="1"/>
              <a:t>pacote kpt publicado no Porch</a:t>
            </a:r>
            <a:r>
              <a:rPr/>
              <a:t> — não por </a:t>
            </a:r>
            <a:r>
              <a:rPr>
                <a:latin typeface="Courier"/>
              </a:rPr>
              <a:t>kubectl apply</a:t>
            </a:r>
            <a:r>
              <a:rPr/>
              <a:t> direto</a:t>
            </a:r>
          </a:p>
          <a:p>
            <a:pPr lvl="0"/>
            <a:r>
              <a:rPr/>
              <a:t>Repositório Porch dedicado: </a:t>
            </a:r>
            <a:r>
              <a:rPr>
                <a:latin typeface="Courier"/>
              </a:rPr>
              <a:t>openran-cnfs</a:t>
            </a:r>
          </a:p>
          <a:p>
            <a:pPr lvl="0"/>
            <a:r>
              <a:rPr/>
              <a:t>Cada mudança de conteúdo = uma </a:t>
            </a:r>
            <a:r>
              <a:rPr b="1"/>
              <a:t>nova revisão</a:t>
            </a:r>
            <a:r>
              <a:rPr/>
              <a:t> do pacote (Porch não permite </a:t>
            </a:r>
            <a:r>
              <a:rPr>
                <a:latin typeface="Courier"/>
              </a:rPr>
              <a:t>push</a:t>
            </a:r>
            <a:r>
              <a:rPr/>
              <a:t> sobre uma revisão já Published — histórico completo preservado)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Experimento 1 — Instantiate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Comando:</a:t>
            </a:r>
            <a:r>
              <a:rPr/>
              <a:t> </a:t>
            </a:r>
            <a:r>
              <a:rPr>
                <a:latin typeface="Courier"/>
              </a:rPr>
              <a:t>bash lab/nephio/deploy-cnfs-via-porch.sh</a:t>
            </a:r>
          </a:p>
          <a:p>
            <a:pPr lvl="0"/>
            <a:r>
              <a:rPr b="1"/>
              <a:t>O que faz:</a:t>
            </a:r>
            <a:r>
              <a:rPr/>
              <a:t> publica o pacote no Porch (</a:t>
            </a:r>
            <a:r>
              <a:rPr>
                <a:latin typeface="Courier"/>
              </a:rPr>
              <a:t>rpkg copy/push/propose/approve</a:t>
            </a:r>
            <a:r>
              <a:rPr/>
              <a:t>), depois reconcilia declarativamente no </a:t>
            </a:r>
            <a:r>
              <a:rPr>
                <a:latin typeface="Courier"/>
              </a:rPr>
              <a:t>o-cloud-1</a:t>
            </a:r>
          </a:p>
          <a:p>
            <a:pPr lvl="0"/>
            <a:r>
              <a:rPr b="1"/>
              <a:t>Resultado:</a:t>
            </a:r>
            <a:r>
              <a:rPr/>
              <a:t> 3/3 CNFs </a:t>
            </a:r>
            <a:r>
              <a:rPr>
                <a:latin typeface="Courier"/>
              </a:rPr>
              <a:t>Running</a:t>
            </a:r>
            <a:r>
              <a:rPr/>
              <a:t> do zero em </a:t>
            </a:r>
            <a:r>
              <a:rPr b="1"/>
              <a:t>20,4 s</a:t>
            </a:r>
          </a:p>
        </p:txBody>
      </p:sp>
      <p:pic>
        <p:nvPicPr>
          <p:cNvPr descr="assets/term-exp1-appl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50900"/>
            <a:ext cx="51054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Terminal real: apply result 10 attempted, 10 successful — 3 CNFs Running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camadas de configuração — por que distinguir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Configuração operacional da NF</a:t>
            </a:r>
            <a:r>
              <a:rPr/>
              <a:t> — análoga ao que O1/NETCONF faria numa NF real: API própria </a:t>
            </a:r>
            <a:r>
              <a:rPr>
                <a:latin typeface="Courier"/>
              </a:rPr>
              <a:t>/config</a:t>
            </a:r>
            <a:r>
              <a:rPr/>
              <a:t> de cada CNF</a:t>
            </a:r>
          </a:p>
          <a:p>
            <a:pPr lvl="0"/>
            <a:r>
              <a:rPr b="1"/>
              <a:t>Configuração de implantação</a:t>
            </a:r>
            <a:r>
              <a:rPr/>
              <a:t> (pacote/GitOps) — mudar o </a:t>
            </a:r>
            <a:r>
              <a:rPr>
                <a:latin typeface="Courier"/>
              </a:rPr>
              <a:t>ConfigMap</a:t>
            </a:r>
            <a:r>
              <a:rPr/>
              <a:t>/</a:t>
            </a:r>
            <a:r>
              <a:rPr>
                <a:latin typeface="Courier"/>
              </a:rPr>
              <a:t>Deployment</a:t>
            </a:r>
            <a:r>
              <a:rPr/>
              <a:t> no pacote autoral e republicar via Porch</a:t>
            </a:r>
          </a:p>
          <a:p>
            <a:pPr lvl="0"/>
            <a:r>
              <a:rPr/>
              <a:t>Nephio </a:t>
            </a:r>
            <a:r>
              <a:rPr b="1"/>
              <a:t>não implementa O1</a:t>
            </a:r>
            <a:r>
              <a:rPr/>
              <a:t> — então a API </a:t>
            </a:r>
            <a:r>
              <a:rPr>
                <a:latin typeface="Courier"/>
              </a:rPr>
              <a:t>/config</a:t>
            </a:r>
            <a:r>
              <a:rPr/>
              <a:t> é o substituto de laboratório para essa camada, não uma alegação de que isso É O1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Experimento 2 — Configuration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Comando:</a:t>
            </a:r>
            <a:r>
              <a:rPr/>
              <a:t> </a:t>
            </a:r>
            <a:r>
              <a:rPr>
                <a:latin typeface="Courier"/>
              </a:rPr>
              <a:t>PUT /config {"cell_id": 2}</a:t>
            </a:r>
            <a:r>
              <a:rPr/>
              <a:t> no </a:t>
            </a:r>
            <a:r>
              <a:rPr>
                <a:latin typeface="Courier"/>
              </a:rPr>
              <a:t>oran-du</a:t>
            </a:r>
          </a:p>
          <a:p>
            <a:pPr lvl="0"/>
            <a:r>
              <a:rPr b="1"/>
              <a:t>Resultado:</a:t>
            </a:r>
            <a:r>
              <a:rPr/>
              <a:t> </a:t>
            </a:r>
            <a:r>
              <a:rPr>
                <a:latin typeface="Courier"/>
              </a:rPr>
              <a:t>cell_id</a:t>
            </a:r>
            <a:r>
              <a:rPr/>
              <a:t> </a:t>
            </a:r>
            <a:r>
              <a:rPr>
                <a:latin typeface="Courier"/>
              </a:rPr>
              <a:t>1 → 2</a:t>
            </a:r>
            <a:r>
              <a:rPr/>
              <a:t>, </a:t>
            </a:r>
            <a:r>
              <a:rPr>
                <a:latin typeface="Courier"/>
              </a:rPr>
              <a:t>config_version</a:t>
            </a:r>
            <a:r>
              <a:rPr/>
              <a:t> </a:t>
            </a:r>
            <a:r>
              <a:rPr>
                <a:latin typeface="Courier"/>
              </a:rPr>
              <a:t>1 → 2</a:t>
            </a:r>
            <a:r>
              <a:rPr/>
              <a:t>, em </a:t>
            </a:r>
            <a:r>
              <a:rPr b="1"/>
              <a:t>0,7 s</a:t>
            </a:r>
          </a:p>
          <a:p>
            <a:pPr lvl="0"/>
            <a:r>
              <a:rPr/>
              <a:t>Prova que a camada operacional da NF responde e versiona suas próprias mudanças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Experimento 3 —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Comando:</a:t>
            </a:r>
            <a:r>
              <a:rPr/>
              <a:t> </a:t>
            </a:r>
            <a:r>
              <a:rPr>
                <a:latin typeface="Courier"/>
              </a:rPr>
              <a:t>kubectl scale deploy/oran-cu --replicas=2</a:t>
            </a:r>
          </a:p>
          <a:p>
            <a:pPr lvl="0"/>
            <a:r>
              <a:rPr b="1"/>
              <a:t>Resultado:</a:t>
            </a:r>
            <a:r>
              <a:rPr/>
              <a:t> rollout concluído, </a:t>
            </a:r>
            <a:r>
              <a:rPr>
                <a:latin typeface="Courier"/>
              </a:rPr>
              <a:t>oran-cu</a:t>
            </a:r>
            <a:r>
              <a:rPr/>
              <a:t> 2/2 </a:t>
            </a:r>
            <a:r>
              <a:rPr>
                <a:latin typeface="Courier"/>
              </a:rPr>
              <a:t>Running</a:t>
            </a:r>
            <a:r>
              <a:rPr/>
              <a:t>, em </a:t>
            </a:r>
            <a:r>
              <a:rPr b="1"/>
              <a:t>5,7 s</a:t>
            </a:r>
          </a:p>
          <a:p>
            <a:pPr lvl="0"/>
            <a:r>
              <a:rPr/>
              <a:t>Mecanismo: </a:t>
            </a:r>
            <a:r>
              <a:rPr b="1"/>
              <a:t>ReplicaSet controller do Kubernetes</a:t>
            </a:r>
            <a:r>
              <a:rPr/>
              <a:t> — o mesmo mecanismo genérico usado por qualquer aplicação, não um scaling orientado por KPI de rede O-RAN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Experimento 5 — Upgrade (achado real)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Comando:</a:t>
            </a:r>
            <a:r>
              <a:rPr/>
              <a:t> atualizar </a:t>
            </a:r>
            <a:r>
              <a:rPr>
                <a:latin typeface="Courier"/>
              </a:rPr>
              <a:t>NF_VERSION</a:t>
            </a:r>
            <a:r>
              <a:rPr/>
              <a:t> v1→v2 no pacote e republicar via Porch</a:t>
            </a:r>
          </a:p>
          <a:p>
            <a:pPr lvl="0"/>
            <a:r>
              <a:rPr b="1"/>
              <a:t>Resultado:</a:t>
            </a:r>
            <a:r>
              <a:rPr/>
              <a:t> </a:t>
            </a:r>
            <a:r>
              <a:rPr>
                <a:latin typeface="Courier"/>
              </a:rPr>
              <a:t>revision</a:t>
            </a:r>
            <a:r>
              <a:rPr/>
              <a:t> do Deployment 1→2, rollout real, </a:t>
            </a:r>
            <a:r>
              <a:rPr>
                <a:latin typeface="Courier"/>
              </a:rPr>
              <a:t>/health.nf_version=v2</a:t>
            </a:r>
            <a:r>
              <a:rPr/>
              <a:t>, em </a:t>
            </a:r>
            <a:r>
              <a:rPr b="1"/>
              <a:t>15,0 s</a:t>
            </a:r>
          </a:p>
          <a:p>
            <a:pPr lvl="0"/>
            <a:r>
              <a:rPr b="1"/>
              <a:t>Achado real:</a:t>
            </a:r>
            <a:r>
              <a:rPr/>
              <a:t> mudar </a:t>
            </a:r>
            <a:r>
              <a:rPr b="1"/>
              <a:t>só</a:t>
            </a:r>
            <a:r>
              <a:rPr/>
              <a:t> o </a:t>
            </a:r>
            <a:r>
              <a:rPr>
                <a:latin typeface="Courier"/>
              </a:rPr>
              <a:t>ConfigMap</a:t>
            </a:r>
            <a:r>
              <a:rPr/>
              <a:t> (consumido via </a:t>
            </a:r>
            <a:r>
              <a:rPr>
                <a:latin typeface="Courier"/>
              </a:rPr>
              <a:t>envFrom</a:t>
            </a:r>
            <a:r>
              <a:rPr/>
              <a:t>) </a:t>
            </a:r>
            <a:r>
              <a:rPr b="1"/>
              <a:t>não</a:t>
            </a:r>
            <a:r>
              <a:rPr/>
              <a:t> dispara rollout — o hash do pod template não muda</a:t>
            </a:r>
          </a:p>
          <a:p>
            <a:pPr lvl="0"/>
            <a:r>
              <a:rPr b="1"/>
              <a:t>Correção:</a:t>
            </a:r>
            <a:r>
              <a:rPr/>
              <a:t> anotação de versão em </a:t>
            </a:r>
            <a:r>
              <a:rPr>
                <a:latin typeface="Courier"/>
              </a:rPr>
              <a:t>spec.template.metadata.annotations</a:t>
            </a:r>
            <a:r>
              <a:rPr/>
              <a:t>, que força um novo </a:t>
            </a:r>
            <a:r>
              <a:rPr>
                <a:latin typeface="Courier"/>
              </a:rPr>
              <a:t>ReplicaSet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Experimento 4 — Recover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Comando:</a:t>
            </a:r>
            <a:r>
              <a:rPr/>
              <a:t> </a:t>
            </a:r>
            <a:r>
              <a:rPr>
                <a:latin typeface="Courier"/>
              </a:rPr>
              <a:t>kubectl delete pod</a:t>
            </a:r>
            <a:r>
              <a:rPr/>
              <a:t> no </a:t>
            </a:r>
            <a:r>
              <a:rPr>
                <a:latin typeface="Courier"/>
              </a:rPr>
              <a:t>oran-du</a:t>
            </a:r>
          </a:p>
          <a:p>
            <a:pPr lvl="0"/>
            <a:r>
              <a:rPr b="1"/>
              <a:t>Resultado:</a:t>
            </a:r>
            <a:r>
              <a:rPr/>
              <a:t> ReplicaSet recria em </a:t>
            </a:r>
            <a:r>
              <a:rPr b="1"/>
              <a:t>3,9 s</a:t>
            </a:r>
            <a:r>
              <a:rPr/>
              <a:t> — pod novo, nome diferente</a:t>
            </a:r>
          </a:p>
          <a:p>
            <a:pPr lvl="0"/>
            <a:r>
              <a:rPr b="1"/>
              <a:t>Isto é self-healing do Kubernetes</a:t>
            </a:r>
            <a:r>
              <a:rPr/>
              <a:t> (estado desejado × estado real) — </a:t>
            </a:r>
            <a:r>
              <a:rPr b="1"/>
              <a:t>não</a:t>
            </a:r>
            <a:r>
              <a:rPr/>
              <a:t> é healing de uma NF de telecom: sem estado de sessão, sem re-registro em interfaces O-RAN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Experimento 6 — Terminate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Comando:</a:t>
            </a:r>
            <a:r>
              <a:rPr/>
              <a:t> remover </a:t>
            </a:r>
            <a:r>
              <a:rPr>
                <a:latin typeface="Courier"/>
              </a:rPr>
              <a:t>oran-core</a:t>
            </a:r>
            <a:r>
              <a:rPr/>
              <a:t> do pacote e republicar</a:t>
            </a:r>
          </a:p>
          <a:p>
            <a:pPr lvl="0"/>
            <a:r>
              <a:rPr b="1"/>
              <a:t>Resultado:</a:t>
            </a:r>
            <a:r>
              <a:rPr/>
              <a:t> </a:t>
            </a:r>
            <a:r>
              <a:rPr>
                <a:latin typeface="Courier"/>
              </a:rPr>
              <a:t>oran-core</a:t>
            </a:r>
            <a:r>
              <a:rPr/>
              <a:t> removido via </a:t>
            </a:r>
            <a:r>
              <a:rPr b="1"/>
              <a:t>prune</a:t>
            </a:r>
            <a:r>
              <a:rPr/>
              <a:t> do </a:t>
            </a:r>
            <a:r>
              <a:rPr>
                <a:latin typeface="Courier"/>
              </a:rPr>
              <a:t>kpt live apply</a:t>
            </a:r>
            <a:r>
              <a:rPr/>
              <a:t>, em </a:t>
            </a:r>
            <a:r>
              <a:rPr b="1"/>
              <a:t>10,8 s</a:t>
            </a:r>
          </a:p>
          <a:p>
            <a:pPr lvl="0"/>
            <a:r>
              <a:rPr/>
              <a:t>Terminação pelo </a:t>
            </a:r>
            <a:r>
              <a:rPr b="1"/>
              <a:t>mesmo mecanismo declarativo</a:t>
            </a:r>
            <a:r>
              <a:rPr/>
              <a:t> que criou o recurso — não um </a:t>
            </a:r>
            <a:r>
              <a:rPr>
                <a:latin typeface="Courier"/>
              </a:rPr>
              <a:t>kubectl delete</a:t>
            </a:r>
            <a:r>
              <a:rPr/>
              <a:t> avulso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Resultados consolidados</a:t>
            </a:r>
          </a:p>
        </p:txBody>
      </p:sp>
      <p:pic>
        <p:nvPicPr>
          <p:cNvPr descr="assets/experiments-dura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273300" y="1193800"/>
            <a:ext cx="459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Duração real de todos os experimentos, por categoria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10/10 experimentos com sucesso</a:t>
            </a:r>
            <a:r>
              <a:rPr/>
              <a:t> (</a:t>
            </a:r>
            <a:r>
              <a:rPr>
                <a:latin typeface="Courier"/>
              </a:rPr>
              <a:t>results/experiments.csv</a:t>
            </a:r>
            <a:r>
              <a:rPr/>
              <a:t> + evidências)</a:t>
            </a:r>
          </a:p>
          <a:p>
            <a:pPr lvl="0"/>
            <a:r>
              <a:rPr>
                <a:latin typeface="Courier"/>
              </a:rPr>
              <a:t>scripts/validate-lab.sh</a:t>
            </a:r>
            <a:r>
              <a:rPr/>
              <a:t>: reexecuta automaticamente instantiate/scale/recover/terminate e valida cada componente da camada de operação</a:t>
            </a:r>
          </a:p>
        </p:txBody>
      </p:sp>
      <p:pic>
        <p:nvPicPr>
          <p:cNvPr descr="assets/term-validate-lab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206500" y="1193800"/>
            <a:ext cx="6718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validate-lab.sh — validação automática do laboratório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Experimento 7 — metrics-server (Monitoring)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Instalado no </a:t>
            </a:r>
            <a:r>
              <a:rPr>
                <a:latin typeface="Courier"/>
              </a:rPr>
              <a:t>o-cloud-1</a:t>
            </a:r>
            <a:r>
              <a:rPr/>
              <a:t>: manifesto oficial + patch </a:t>
            </a:r>
            <a:r>
              <a:rPr>
                <a:latin typeface="Courier"/>
              </a:rPr>
              <a:t>--kubelet-insecure-tls</a:t>
            </a:r>
          </a:p>
          <a:p>
            <a:pPr lvl="0"/>
            <a:r>
              <a:rPr/>
              <a:t>Fecha “Monitoring: não incluído nativamente” da tabela SMO×Nephio da Parte 1</a:t>
            </a:r>
          </a:p>
          <a:p>
            <a:pPr lvl="0"/>
            <a:r>
              <a:rPr/>
              <a:t>Custo: </a:t>
            </a:r>
            <a:r>
              <a:rPr b="1"/>
              <a:t>~15 MiB de RAM</a:t>
            </a:r>
          </a:p>
        </p:txBody>
      </p:sp>
      <p:pic>
        <p:nvPicPr>
          <p:cNvPr descr="assets/term-metrics-top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308100"/>
            <a:ext cx="51054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kubectl top nodes/pods — dados reais de CPU e memória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Experimento 8 — RootSync contínuo (Orchestration)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Config Sync instalado no </a:t>
            </a:r>
            <a:r>
              <a:rPr b="1"/>
              <a:t>próprio</a:t>
            </a:r>
            <a:r>
              <a:rPr/>
              <a:t> </a:t>
            </a:r>
            <a:r>
              <a:rPr>
                <a:latin typeface="Courier"/>
              </a:rPr>
              <a:t>o-cloud-1</a:t>
            </a:r>
            <a:r>
              <a:rPr/>
              <a:t>, com </a:t>
            </a:r>
            <a:r>
              <a:rPr>
                <a:latin typeface="Courier"/>
              </a:rPr>
              <a:t>RootSync</a:t>
            </a:r>
            <a:r>
              <a:rPr/>
              <a:t> apontando pro repositório </a:t>
            </a:r>
            <a:r>
              <a:rPr>
                <a:latin typeface="Courier"/>
              </a:rPr>
              <a:t>openran-cnfs</a:t>
            </a:r>
          </a:p>
          <a:p>
            <a:pPr lvl="0"/>
            <a:r>
              <a:rPr/>
              <a:t>A entrega das NFs é reconciliada </a:t>
            </a:r>
            <a:r>
              <a:rPr b="1"/>
              <a:t>continuamente</a:t>
            </a:r>
            <a:r>
              <a:rPr/>
              <a:t>, não sob demanda</a:t>
            </a:r>
          </a:p>
          <a:p>
            <a:pPr lvl="0"/>
            <a:r>
              <a:rPr b="1"/>
              <a:t>Prova real:</a:t>
            </a:r>
            <a:r>
              <a:rPr/>
              <a:t> publiquei v3 no Porch </a:t>
            </a:r>
            <a:r>
              <a:rPr b="1"/>
              <a:t>sem tocar no cluster</a:t>
            </a:r>
            <a:r>
              <a:rPr/>
              <a:t> — aplicado sozinho em </a:t>
            </a:r>
            <a:r>
              <a:rPr b="1"/>
              <a:t>19 s</a:t>
            </a:r>
            <a:r>
              <a:rPr/>
              <a:t> (commit </a:t>
            </a:r>
            <a:r>
              <a:rPr>
                <a:latin typeface="Courier"/>
              </a:rPr>
              <a:t>1bdae53d</a:t>
            </a:r>
            <a:r>
              <a:rPr/>
              <a:t> → </a:t>
            </a:r>
            <a:r>
              <a:rPr>
                <a:latin typeface="Courier"/>
              </a:rPr>
              <a:t>oran-cu.nf-version=v3</a:t>
            </a:r>
            <a:r>
              <a:rPr/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Experimento 9 — config-bridge (Configuration)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Fecha o loop </a:t>
            </a:r>
            <a:r>
              <a:rPr>
                <a:latin typeface="Courier"/>
              </a:rPr>
              <a:t>/config</a:t>
            </a:r>
            <a:r>
              <a:rPr/>
              <a:t> (NF) → pacote: um poller detecta drift entre o </a:t>
            </a:r>
            <a:r>
              <a:rPr>
                <a:latin typeface="Courier"/>
              </a:rPr>
              <a:t>/config</a:t>
            </a:r>
            <a:r>
              <a:rPr/>
              <a:t> ao vivo e o ConfigMap publicado, e comita a correção — o RootSync reconcilia o resto sozinho</a:t>
            </a:r>
          </a:p>
        </p:txBody>
      </p:sp>
      <p:pic>
        <p:nvPicPr>
          <p:cNvPr descr="assets/term-configbridge-drif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04900"/>
            <a:ext cx="51054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Round-trip real: PUT /config contornando o GitOps → drift detectado → commit → CFG_CELL_ID=7 confirmado no cluster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Experimento 10 — rapp-autoscale (Non-RT RIC)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Poller Python (não um operador </a:t>
            </a:r>
            <a:r>
              <a:rPr>
                <a:latin typeface="Courier"/>
              </a:rPr>
              <a:t>kopf</a:t>
            </a:r>
            <a:r>
              <a:rPr/>
              <a:t> — o estado observado não é um recurso do Kubernetes) que lê a taxa de requisições de </a:t>
            </a:r>
            <a:r>
              <a:rPr>
                <a:latin typeface="Courier"/>
              </a:rPr>
              <a:t>/metrics</a:t>
            </a:r>
            <a:r>
              <a:rPr/>
              <a:t> a cada </a:t>
            </a:r>
            <a:r>
              <a:rPr b="1"/>
              <a:t>30 s</a:t>
            </a:r>
          </a:p>
          <a:p>
            <a:pPr lvl="0"/>
            <a:r>
              <a:rPr/>
              <a:t>Deliberadamente </a:t>
            </a:r>
            <a:r>
              <a:rPr b="1"/>
              <a:t>não-tempo-real</a:t>
            </a:r>
            <a:r>
              <a:rPr/>
              <a:t> — O-RAN define rApp como &gt;1 s, xApp como 10 ms–1 s</a:t>
            </a:r>
          </a:p>
          <a:p>
            <a:pPr lvl="0"/>
            <a:r>
              <a:rPr/>
              <a:t>Política: </a:t>
            </a:r>
            <a:r>
              <a:rPr>
                <a:latin typeface="Courier"/>
              </a:rPr>
              <a:t>rate &gt; 1,0 req/s</a:t>
            </a:r>
            <a:r>
              <a:rPr/>
              <a:t> → escala pra cima; </a:t>
            </a:r>
            <a:r>
              <a:rPr>
                <a:latin typeface="Courier"/>
              </a:rPr>
              <a:t>rate &lt; 0,1 req/s</a:t>
            </a:r>
            <a:r>
              <a:rPr/>
              <a:t> → escala pra baixo</a:t>
            </a:r>
          </a:p>
          <a:p>
            <a:pPr lvl="0"/>
            <a:r>
              <a:rPr/>
              <a:t>Ação via PATCH direto no </a:t>
            </a:r>
            <a:r>
              <a:rPr>
                <a:latin typeface="Courier"/>
              </a:rPr>
              <a:t>/scale</a:t>
            </a:r>
            <a:r>
              <a:rPr/>
              <a:t> — não publica uma policy A1, porque não há Near-RT RIC real neste laboratório</a:t>
            </a:r>
          </a:p>
        </p:txBody>
      </p:sp>
      <p:pic>
        <p:nvPicPr>
          <p:cNvPr descr="assets/term-rapp-decis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77900"/>
            <a:ext cx="51054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Decisão real do rApp: rate=10.27 req/s dispara scale-up 1→2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Achado real — conflito GitOps × controle imperativo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PATCH </a:t>
            </a:r>
            <a:r>
              <a:rPr>
                <a:latin typeface="Courier"/>
              </a:rPr>
              <a:t>/scale</a:t>
            </a:r>
            <a:r>
              <a:rPr/>
              <a:t> aplicava </a:t>
            </a:r>
            <a:r>
              <a:rPr>
                <a:latin typeface="Courier"/>
              </a:rPr>
              <a:t>replicas:2</a:t>
            </a:r>
            <a:r>
              <a:rPr/>
              <a:t> com sucesso (</a:t>
            </a:r>
            <a:r>
              <a:rPr>
                <a:latin typeface="Courier"/>
              </a:rPr>
              <a:t>200</a:t>
            </a:r>
            <a:r>
              <a:rPr/>
              <a:t>) — mas a réplica </a:t>
            </a:r>
            <a:r>
              <a:rPr b="1"/>
              <a:t>voltava pra 1</a:t>
            </a:r>
            <a:r>
              <a:rPr/>
              <a:t> segundos depois</a:t>
            </a:r>
          </a:p>
          <a:p>
            <a:pPr lvl="0"/>
            <a:r>
              <a:rPr b="1"/>
              <a:t>Causa raiz:</a:t>
            </a:r>
            <a:r>
              <a:rPr/>
              <a:t> o pacote no Git ainda declarava </a:t>
            </a:r>
            <a:r>
              <a:rPr>
                <a:latin typeface="Courier"/>
              </a:rPr>
              <a:t>replicas: 1</a:t>
            </a:r>
            <a:r>
              <a:rPr/>
              <a:t>, e o RootSync contínuo reconciliava de volta a cada ciclo — duas autoridades de orquestração competindo pelo mesmo campo</a:t>
            </a:r>
          </a:p>
          <a:p>
            <a:pPr lvl="0"/>
            <a:r>
              <a:rPr b="1"/>
              <a:t>Correção:</a:t>
            </a:r>
            <a:r>
              <a:rPr/>
              <a:t> campo </a:t>
            </a:r>
            <a:r>
              <a:rPr>
                <a:latin typeface="Courier"/>
              </a:rPr>
              <a:t>replicas</a:t>
            </a:r>
            <a:r>
              <a:rPr/>
              <a:t> removido do pacote — como </a:t>
            </a:r>
            <a:r>
              <a:rPr>
                <a:latin typeface="Courier"/>
              </a:rPr>
              <a:t>kpt live apply</a:t>
            </a:r>
            <a:r>
              <a:rPr/>
              <a:t> e o Config Sync usam </a:t>
            </a:r>
            <a:r>
              <a:rPr i="1"/>
              <a:t>server-side apply</a:t>
            </a:r>
            <a:r>
              <a:rPr/>
              <a:t>, nenhum dos dois reivindica o campo quando ausente</a:t>
            </a:r>
          </a:p>
          <a:p>
            <a:pPr lvl="0"/>
            <a:r>
              <a:rPr/>
              <a:t>Mesmo padrão usado na vida real quando um </a:t>
            </a:r>
            <a:r>
              <a:rPr b="1"/>
              <a:t>HPA coexiste com GitOps</a:t>
            </a:r>
            <a:r>
              <a:rPr/>
              <a:t> (Argo CD chama isso de </a:t>
            </a:r>
            <a:r>
              <a:rPr>
                <a:latin typeface="Courier"/>
              </a:rPr>
              <a:t>ignoreDifferences</a:t>
            </a:r>
            <a:r>
              <a:rPr/>
              <a:t>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rApp, não xApp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rApp roda no </a:t>
            </a:r>
            <a:r>
              <a:rPr b="1"/>
              <a:t>Non-RT RIC</a:t>
            </a:r>
            <a:r>
              <a:rPr/>
              <a:t>, que é parte do próprio </a:t>
            </a:r>
            <a:r>
              <a:rPr b="1"/>
              <a:t>SMO</a:t>
            </a:r>
            <a:r>
              <a:rPr/>
              <a:t> — o escopo desta disciplina</a:t>
            </a:r>
          </a:p>
          <a:p>
            <a:pPr lvl="0"/>
            <a:r>
              <a:rPr/>
              <a:t>xApp rodaria no Near-RT RIC e falaria </a:t>
            </a:r>
            <a:r>
              <a:rPr b="1"/>
              <a:t>E2</a:t>
            </a:r>
            <a:r>
              <a:rPr/>
              <a:t> com os “E2 Nodes” — protocolo que nossas CNFs simuladas não implementam</a:t>
            </a:r>
          </a:p>
          <a:p>
            <a:pPr lvl="0"/>
            <a:r>
              <a:rPr/>
              <a:t>Simular um xApp exigiria inventar uma interface E2/Near-RT RIC inexistente no laboratório — contra a regra deste trabalho de nunca fingir que algo funciona</a:t>
            </a:r>
          </a:p>
          <a:p>
            <a:pPr lvl="0"/>
            <a:r>
              <a:rPr/>
              <a:t>Não existe “A2” na especificação O-RAN — as interfaces reais do lado RIC são </a:t>
            </a:r>
            <a:r>
              <a:rPr b="1"/>
              <a:t>A1</a:t>
            </a:r>
            <a:r>
              <a:rPr/>
              <a:t> e </a:t>
            </a:r>
            <a:r>
              <a:rPr b="1"/>
              <a:t>E2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Uso de RAM</a:t>
            </a:r>
          </a:p>
        </p:txBody>
      </p:sp>
      <p:pic>
        <p:nvPicPr>
          <p:cNvPr descr="assets/ram-usag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778000" y="1193800"/>
            <a:ext cx="558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Uso real de RAM: todos os componentes cabem folgado no orçamento do WSL2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nephio-mgmt</a:t>
            </a:r>
            <a:r>
              <a:rPr/>
              <a:t>: ~3,8 GiB · </a:t>
            </a:r>
            <a:r>
              <a:rPr>
                <a:latin typeface="Courier"/>
              </a:rPr>
              <a:t>o-cloud-1</a:t>
            </a:r>
            <a:r>
              <a:rPr/>
              <a:t> (2 nós): ~2,3 GiB · 3 CNFs: &lt;200 MiB · </a:t>
            </a:r>
            <a:r>
              <a:rPr>
                <a:latin typeface="Courier"/>
              </a:rPr>
              <a:t>metrics-server</a:t>
            </a:r>
            <a:r>
              <a:rPr/>
              <a:t>+</a:t>
            </a:r>
            <a:r>
              <a:rPr>
                <a:latin typeface="Courier"/>
              </a:rPr>
              <a:t>config-bridge</a:t>
            </a:r>
            <a:r>
              <a:rPr/>
              <a:t>+</a:t>
            </a:r>
            <a:r>
              <a:rPr>
                <a:latin typeface="Courier"/>
              </a:rPr>
              <a:t>rapp-autoscale</a:t>
            </a:r>
            <a:r>
              <a:rPr/>
              <a:t>: ~130 MiB</a:t>
            </a:r>
          </a:p>
          <a:p>
            <a:pPr lvl="0"/>
            <a:r>
              <a:rPr b="1"/>
              <a:t>Total: ~6,4 GiB usados de 9,7 GiB configurados</a:t>
            </a:r>
            <a:r>
              <a:rPr/>
              <a:t> — bem abaixo da meta de 10–12 GB do enunciado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foi implementado × o que ficou de fora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Implementado e evidenciado:</a:t>
            </a:r>
            <a:r>
              <a:rPr/>
              <a:t> provisioning (O2 IMS + Porch), lifecycle Kubernetes completo (6 experimentos), GitOps contínuo, monitoramento real, sincronização </a:t>
            </a:r>
            <a:r>
              <a:rPr>
                <a:latin typeface="Courier"/>
              </a:rPr>
              <a:t>/config</a:t>
            </a:r>
            <a:r>
              <a:rPr/>
              <a:t> → pacote (parcial), uma primeira função de Non-RT RIC/rApp funcional</a:t>
            </a:r>
          </a:p>
          <a:p>
            <a:pPr lvl="0"/>
            <a:r>
              <a:rPr b="1"/>
              <a:t>Ficou de fora, deliberadamente:</a:t>
            </a:r>
            <a:r>
              <a:rPr/>
              <a:t> O1 (FCAPS via NETCONF/YANG), xApp/E2/Near-RT RIC, NF O-RAN real, federação FOCOM com SMO externo, telemetria O-RAN nativa (VES/PM Jobs)</a:t>
            </a:r>
          </a:p>
          <a:p>
            <a:pPr lvl="0"/>
            <a:r>
              <a:rPr b="1"/>
              <a:t>11 bugs de engenharia reais</a:t>
            </a:r>
            <a:r>
              <a:rPr/>
              <a:t> encontrados e corrigidos ao longo de toda a Parte 2 — nenhum escondido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Nephio orquestrou o ciclo de vida completo de CNFs cloud-native — provisionamento, configuração, escala, atualização, recuperação e terminação — usando seus mecanismos nativos, não apenas </a:t>
            </a:r>
            <a:r>
              <a:rPr>
                <a:latin typeface="Courier"/>
              </a:rPr>
              <a:t>kubectl apply</a:t>
            </a:r>
          </a:p>
          <a:p>
            <a:pPr lvl="0"/>
            <a:r>
              <a:rPr/>
              <a:t>O laboratório também demonstra GitOps contínuo, monitoramento real, e uma primeira função de Non-RT RIC funcional</a:t>
            </a:r>
          </a:p>
          <a:p>
            <a:pPr lvl="0"/>
            <a:r>
              <a:rPr/>
              <a:t>O que é abstração: as NFs, o O-Cloud, a federação FOCOM, o xApp (deliberadamente não simulado)</a:t>
            </a:r>
          </a:p>
          <a:p>
            <a:pPr lvl="0"/>
            <a:r>
              <a:rPr/>
              <a:t>O que é real: Porch/kpt/RootSync, provisionamento O2 IMS, monitoramento e um rApp funcional (com um achado genuíno sobre orquestração distribuída)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2026-09-25T14:33:30Z</dcterms:created>
  <dcterms:modified xsi:type="dcterms:W3CDTF">2026-09-25T14:33:30Z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